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6" d="100"/>
          <a:sy n="126" d="100"/>
        </p:scale>
        <p:origin x="58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3001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1. Назвать тему и цель: понять общество как систему совместной жизни людей, а не просто как сумму отдельных людей.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2. Дать определение и пояснить: общество отличается от случайной толпы наличием устойчивых связей и правил. Упомянуть широкое и узкое значение термина.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3. Кратко перечислить признаки. Главное: общество имеет связи, нормы, культуру и институты, благодаря чему оно сохраняется и развивается.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4. Объяснить уровни структуры: индивиды, группы, институты и культурно-нормативный уровень. Отдельно привести пример статуса и роли: студент и обязанности студента.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5. Привести примеры социальных институтов и объяснить, что их задача — закреплять правила и выполнять функции: социализация, производство, порядок, коммуникация.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6. Кратко сравнить три типа общества. Подчеркнуть, что это модель: реальное общество может одновременно иметь черты разных типов.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7. Завершить тезисом: общество не сводится к людям по отдельности; оно существует через устойчивые отношения, институты и культуру. Человек формируется обществом, но также меняет его своими действиями.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panoramic_vector_illustration_style_scene.png"/>
          <p:cNvPicPr>
            <a:picLocks noChangeAspect="1"/>
          </p:cNvPicPr>
          <p:nvPr/>
        </p:nvPicPr>
        <p:blipFill>
          <a:blip r:embed="rId3"/>
          <a:srcRect l="20725" r="20725"/>
          <a:stretch/>
        </p:blipFill>
        <p:spPr>
          <a:xfrm>
            <a:off x="5715000" y="502920"/>
            <a:ext cx="589788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123444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Понятие</a:t>
            </a:r>
            <a:endParaRPr lang="en-US" sz="4700" dirty="0"/>
          </a:p>
          <a:p>
            <a:pPr marL="0" indent="0">
              <a:buNone/>
            </a:pPr>
            <a:r>
              <a:rPr lang="en-US" sz="4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общества</a:t>
            </a:r>
            <a:endParaRPr lang="en-US" sz="4700" dirty="0"/>
          </a:p>
        </p:txBody>
      </p:sp>
      <p:sp>
        <p:nvSpPr>
          <p:cNvPr id="4" name="Shape 1"/>
          <p:cNvSpPr/>
          <p:nvPr/>
        </p:nvSpPr>
        <p:spPr>
          <a:xfrm>
            <a:off x="667512" y="2907792"/>
            <a:ext cx="1417320" cy="0"/>
          </a:xfrm>
          <a:prstGeom prst="line">
            <a:avLst/>
          </a:prstGeom>
          <a:noFill/>
          <a:ln w="508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676656" y="3218688"/>
            <a:ext cx="438912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Доклад по социологии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Рассчитан на 5–7 минут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76656" y="4892040"/>
            <a:ext cx="45720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Цель: показать общество как систему людей, связей, норм, культуры и институтов.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Что такое общество?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77824"/>
            <a:ext cx="10515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 социологии это не толпа, а устойчивая система взаимодействий.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5451566" cy="17830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Общество — это совокупность людей, объединённых исторически сложившимися формами совместной жизни, социальными отношениями, нормами, ценностями, культурой и институтами.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31546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6F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Широкий смысл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03504" y="361188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Вся система совместной жизни людей: отношения, нормы, культура, институты.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594360" y="46177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7F6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Узкий смысл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03504" y="5074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Конкретная историческая общность: современное, индустриальное, российское общество.</a:t>
            </a:r>
            <a:endParaRPr lang="en-US" sz="1620" dirty="0"/>
          </a:p>
        </p:txBody>
      </p:sp>
      <p:pic>
        <p:nvPicPr>
          <p:cNvPr id="10" name="Image 0" descr="/mnt/data/a_wide_minimalist_infographic_like_scene_of_a_la.png"/>
          <p:cNvPicPr>
            <a:picLocks noChangeAspect="1"/>
          </p:cNvPicPr>
          <p:nvPr/>
        </p:nvPicPr>
        <p:blipFill>
          <a:blip r:embed="rId3"/>
          <a:srcRect l="17170" r="17170"/>
          <a:stretch/>
        </p:blipFill>
        <p:spPr>
          <a:xfrm>
            <a:off x="6446520" y="1325880"/>
            <a:ext cx="5120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Основные признаки общества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77824"/>
            <a:ext cx="10515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Признаки показывают, почему общество является целостной социальной системой.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F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Люди и устойчивые связи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41832" y="19385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взаимодействие, обмен, сотрудничество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685800" y="28163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F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Нормы и ценности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1832" y="32004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правила поведения и представления о важном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685800" y="407822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F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Культура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1832" y="44622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язык, традиции, знания, символы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6172200" y="15544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7F6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4. Социальные институты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28232" y="19385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семья, образование, экономика, право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6172200" y="28163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7F6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5. Относительная самостоятельность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28232" y="32004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способность поддерживать свою жизнь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6172200" y="407822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7F6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6. Историческая преемственность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28232" y="44622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передача опыта новым поколениям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5806440" y="1508760"/>
            <a:ext cx="0" cy="3657600"/>
          </a:xfrm>
          <a:prstGeom prst="line">
            <a:avLst/>
          </a:prstGeom>
          <a:noFill/>
          <a:ln w="15240">
            <a:solidFill>
              <a:srgbClr val="C9D6E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Структура общества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77824"/>
            <a:ext cx="10515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Общество устроено как многоуровневая система.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594360" cy="0"/>
          </a:xfrm>
          <a:prstGeom prst="line">
            <a:avLst/>
          </a:prstGeom>
          <a:noFill/>
          <a:ln w="508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664208" y="15361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Индивиды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64208" y="1947672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отдельные люди — носители действий и потребностей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594360" cy="0"/>
          </a:xfrm>
          <a:prstGeom prst="line">
            <a:avLst/>
          </a:prstGeom>
          <a:noFill/>
          <a:ln w="508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664208" y="2587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Группы и общности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64208" y="2999232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семья, учебная группа, коллектив, население города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68680" y="3931920"/>
            <a:ext cx="594360" cy="0"/>
          </a:xfrm>
          <a:prstGeom prst="line">
            <a:avLst/>
          </a:prstGeom>
          <a:noFill/>
          <a:ln w="50800">
            <a:solidFill>
              <a:srgbClr val="E6852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1664208" y="3639312"/>
            <a:ext cx="3375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Социальные институты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664208" y="4050792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устойчивые формы организации важнейших сфер жизни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68680" y="4983480"/>
            <a:ext cx="594360" cy="0"/>
          </a:xfrm>
          <a:prstGeom prst="line">
            <a:avLst/>
          </a:prstGeom>
          <a:noFill/>
          <a:ln w="508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1664207" y="4690872"/>
            <a:ext cx="39005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Нормы, ценности, культура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664208" y="5102352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правила, смыслы и опыт, связывающие систему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68680" y="57424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F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Статус + роль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127248" y="573328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Статус — положение человека. Роль — ожидаемое поведение, связанное с этим положением.</a:t>
            </a:r>
            <a:endParaRPr lang="en-US" sz="1420" dirty="0"/>
          </a:p>
        </p:txBody>
      </p:sp>
      <p:pic>
        <p:nvPicPr>
          <p:cNvPr id="19" name="Image 0" descr="/mnt/data/a_wide_minimalist_infographic_like_scene_of_a_la.png"/>
          <p:cNvPicPr>
            <a:picLocks noChangeAspect="1"/>
          </p:cNvPicPr>
          <p:nvPr/>
        </p:nvPicPr>
        <p:blipFill>
          <a:blip r:embed="rId3"/>
          <a:srcRect l="21280" r="21280"/>
          <a:stretch/>
        </p:blipFill>
        <p:spPr>
          <a:xfrm>
            <a:off x="6812280" y="1353312"/>
            <a:ext cx="452628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Институты и функции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77824"/>
            <a:ext cx="10515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Социальные институты закрепляют правила и обеспечивают устойчивость общества.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5087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1F6F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Институт</a:t>
            </a:r>
            <a:endParaRPr lang="en-US" sz="1620" dirty="0"/>
          </a:p>
        </p:txBody>
      </p:sp>
      <p:sp>
        <p:nvSpPr>
          <p:cNvPr id="6" name="Text 4"/>
          <p:cNvSpPr/>
          <p:nvPr/>
        </p:nvSpPr>
        <p:spPr>
          <a:xfrm>
            <a:off x="2606040" y="15087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1F6F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Основная функция</a:t>
            </a:r>
            <a:endParaRPr lang="en-US" sz="1620" dirty="0"/>
          </a:p>
        </p:txBody>
      </p:sp>
      <p:sp>
        <p:nvSpPr>
          <p:cNvPr id="7" name="Shape 5"/>
          <p:cNvSpPr/>
          <p:nvPr/>
        </p:nvSpPr>
        <p:spPr>
          <a:xfrm>
            <a:off x="658368" y="1938528"/>
            <a:ext cx="5349240" cy="0"/>
          </a:xfrm>
          <a:prstGeom prst="line">
            <a:avLst/>
          </a:prstGeom>
          <a:noFill/>
          <a:ln w="9525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658368" y="21031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Семья</a:t>
            </a:r>
            <a:endParaRPr lang="en-US" sz="1580" dirty="0"/>
          </a:p>
        </p:txBody>
      </p:sp>
      <p:sp>
        <p:nvSpPr>
          <p:cNvPr id="9" name="Text 7"/>
          <p:cNvSpPr/>
          <p:nvPr/>
        </p:nvSpPr>
        <p:spPr>
          <a:xfrm>
            <a:off x="2606040" y="21031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рождение, воспитание, первичная социализация</a:t>
            </a:r>
            <a:endParaRPr lang="en-US" sz="1480" dirty="0"/>
          </a:p>
        </p:txBody>
      </p:sp>
      <p:sp>
        <p:nvSpPr>
          <p:cNvPr id="10" name="Shape 8"/>
          <p:cNvSpPr/>
          <p:nvPr/>
        </p:nvSpPr>
        <p:spPr>
          <a:xfrm>
            <a:off x="658368" y="2688336"/>
            <a:ext cx="5349240" cy="0"/>
          </a:xfrm>
          <a:prstGeom prst="line">
            <a:avLst/>
          </a:prstGeom>
          <a:noFill/>
          <a:ln w="9525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58368" y="28529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Образование</a:t>
            </a:r>
            <a:endParaRPr lang="en-US" sz="1580" dirty="0"/>
          </a:p>
        </p:txBody>
      </p:sp>
      <p:sp>
        <p:nvSpPr>
          <p:cNvPr id="12" name="Text 10"/>
          <p:cNvSpPr/>
          <p:nvPr/>
        </p:nvSpPr>
        <p:spPr>
          <a:xfrm>
            <a:off x="2606040" y="28529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передача знаний, подготовка к профессии</a:t>
            </a:r>
            <a:endParaRPr lang="en-US" sz="1480" dirty="0"/>
          </a:p>
        </p:txBody>
      </p:sp>
      <p:sp>
        <p:nvSpPr>
          <p:cNvPr id="13" name="Shape 11"/>
          <p:cNvSpPr/>
          <p:nvPr/>
        </p:nvSpPr>
        <p:spPr>
          <a:xfrm>
            <a:off x="658368" y="3438144"/>
            <a:ext cx="5349240" cy="0"/>
          </a:xfrm>
          <a:prstGeom prst="line">
            <a:avLst/>
          </a:prstGeom>
          <a:noFill/>
          <a:ln w="9525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58368" y="360273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Экономика</a:t>
            </a:r>
            <a:endParaRPr lang="en-US" sz="1580" dirty="0"/>
          </a:p>
        </p:txBody>
      </p:sp>
      <p:sp>
        <p:nvSpPr>
          <p:cNvPr id="15" name="Text 13"/>
          <p:cNvSpPr/>
          <p:nvPr/>
        </p:nvSpPr>
        <p:spPr>
          <a:xfrm>
            <a:off x="2606040" y="36027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производство и распределение благ</a:t>
            </a:r>
            <a:endParaRPr lang="en-US" sz="1480" dirty="0"/>
          </a:p>
        </p:txBody>
      </p:sp>
      <p:sp>
        <p:nvSpPr>
          <p:cNvPr id="16" name="Shape 14"/>
          <p:cNvSpPr/>
          <p:nvPr/>
        </p:nvSpPr>
        <p:spPr>
          <a:xfrm>
            <a:off x="658368" y="4187952"/>
            <a:ext cx="5349240" cy="0"/>
          </a:xfrm>
          <a:prstGeom prst="line">
            <a:avLst/>
          </a:prstGeom>
          <a:noFill/>
          <a:ln w="9525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658368" y="435254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Государство и право</a:t>
            </a:r>
            <a:endParaRPr lang="en-US" sz="1580" dirty="0"/>
          </a:p>
        </p:txBody>
      </p:sp>
      <p:sp>
        <p:nvSpPr>
          <p:cNvPr id="18" name="Text 16"/>
          <p:cNvSpPr/>
          <p:nvPr/>
        </p:nvSpPr>
        <p:spPr>
          <a:xfrm>
            <a:off x="2606040" y="435254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управление, порядок, регулирование</a:t>
            </a:r>
            <a:endParaRPr lang="en-US" sz="1480" dirty="0"/>
          </a:p>
        </p:txBody>
      </p:sp>
      <p:sp>
        <p:nvSpPr>
          <p:cNvPr id="19" name="Shape 17"/>
          <p:cNvSpPr/>
          <p:nvPr/>
        </p:nvSpPr>
        <p:spPr>
          <a:xfrm>
            <a:off x="658368" y="4937760"/>
            <a:ext cx="5349240" cy="0"/>
          </a:xfrm>
          <a:prstGeom prst="line">
            <a:avLst/>
          </a:prstGeom>
          <a:noFill/>
          <a:ln w="9525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658368" y="51023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Культура и СМИ</a:t>
            </a:r>
            <a:endParaRPr lang="en-US" sz="1580" dirty="0"/>
          </a:p>
        </p:txBody>
      </p:sp>
      <p:sp>
        <p:nvSpPr>
          <p:cNvPr id="21" name="Text 19"/>
          <p:cNvSpPr/>
          <p:nvPr/>
        </p:nvSpPr>
        <p:spPr>
          <a:xfrm>
            <a:off x="2606040" y="510235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коммуникация, ценности, символы</a:t>
            </a:r>
            <a:endParaRPr lang="en-US" sz="1480" dirty="0"/>
          </a:p>
        </p:txBody>
      </p:sp>
      <p:pic>
        <p:nvPicPr>
          <p:cNvPr id="22" name="Image 0" descr="/mnt/data/a_clean_stylized_3d_ish_flat_illustration_infog.png"/>
          <p:cNvPicPr>
            <a:picLocks noChangeAspect="1"/>
          </p:cNvPicPr>
          <p:nvPr/>
        </p:nvPicPr>
        <p:blipFill>
          <a:blip r:embed="rId3"/>
          <a:srcRect l="21292" r="21292"/>
          <a:stretch/>
        </p:blipFill>
        <p:spPr>
          <a:xfrm>
            <a:off x="6812280" y="1325880"/>
            <a:ext cx="4617720" cy="45262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812280" y="59618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1A7F6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Итог: институты делают совместную жизнь предсказуемой.</a:t>
            </a:r>
            <a:endParaRPr lang="en-US" sz="1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Типы общества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77824"/>
            <a:ext cx="10515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Типология помогает увидеть, как меняются основы совместной жизни.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2148840" cy="0"/>
          </a:xfrm>
          <a:prstGeom prst="line">
            <a:avLst/>
          </a:prstGeom>
          <a:noFill/>
          <a:ln w="635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685800" y="208483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Традиционное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3154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Сельское хозяйство, община, обычай, религия, медленные изменения.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15968" y="1828800"/>
            <a:ext cx="2148840" cy="0"/>
          </a:xfrm>
          <a:prstGeom prst="line">
            <a:avLst/>
          </a:prstGeom>
          <a:noFill/>
          <a:ln w="635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315968" y="208483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Индустриальное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15968" y="2788920"/>
            <a:ext cx="3154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Промышленность, города, фабрики, массовое образование, профессии.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09560" y="1828800"/>
            <a:ext cx="2148840" cy="0"/>
          </a:xfrm>
          <a:prstGeom prst="line">
            <a:avLst/>
          </a:prstGeom>
          <a:noFill/>
          <a:ln w="635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7909560" y="208483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Постиндустриальное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909560" y="2788920"/>
            <a:ext cx="3154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Знания, сервисная экономика, цифровые технологии, информация.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024128" y="4892040"/>
            <a:ext cx="9948672" cy="0"/>
          </a:xfrm>
          <a:prstGeom prst="line">
            <a:avLst/>
          </a:prstGeom>
          <a:noFill/>
          <a:ln w="1778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2304288" y="5285232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 err="1">
                <a:solidFill>
                  <a:srgbClr val="E6852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Важно</a:t>
            </a:r>
            <a:r>
              <a:rPr lang="en-US" sz="1900" b="1" dirty="0">
                <a:solidFill>
                  <a:srgbClr val="E6852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: </a:t>
            </a:r>
            <a:r>
              <a:rPr lang="en-US" sz="1900" b="1" dirty="0" err="1">
                <a:solidFill>
                  <a:srgbClr val="E6852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</a:t>
            </a:r>
            <a:r>
              <a:rPr lang="en-US" sz="1900" b="1" dirty="0">
                <a:solidFill>
                  <a:srgbClr val="E6852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</a:t>
            </a:r>
            <a:r>
              <a:rPr lang="en-US" sz="1900" b="1" dirty="0" err="1">
                <a:solidFill>
                  <a:srgbClr val="E6852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реальности</a:t>
            </a:r>
            <a:r>
              <a:rPr lang="en-US" sz="1900" b="1" dirty="0">
                <a:solidFill>
                  <a:srgbClr val="E6852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</a:t>
            </a:r>
            <a:r>
              <a:rPr lang="en-US" sz="1900" b="1" dirty="0" err="1">
                <a:solidFill>
                  <a:srgbClr val="E6852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признаки</a:t>
            </a:r>
            <a:r>
              <a:rPr lang="en-US" sz="1900" b="1" dirty="0">
                <a:solidFill>
                  <a:srgbClr val="E6852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разных типов могут сочетаться.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Вывод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77824"/>
            <a:ext cx="105156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77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Понятие общества помогает объяснять устройство и изменения совместной жизни людей.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Общество = люди + связи + нормы + культура + институты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42519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Общество формирует человека через социализацию.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68680" y="3749040"/>
            <a:ext cx="118872" cy="118872"/>
          </a:xfrm>
          <a:prstGeom prst="ellipse">
            <a:avLst/>
          </a:prstGeom>
          <a:solidFill>
            <a:srgbClr val="1A7F64"/>
          </a:solidFill>
          <a:ln w="12700">
            <a:solidFill>
              <a:srgbClr val="1A7F6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097280" y="3685032"/>
            <a:ext cx="47548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Социальные институты обеспечивают устойчивость и порядок.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68680" y="4599432"/>
            <a:ext cx="118872" cy="118872"/>
          </a:xfrm>
          <a:prstGeom prst="ellipse">
            <a:avLst/>
          </a:prstGeom>
          <a:solidFill>
            <a:srgbClr val="E68523"/>
          </a:solidFill>
          <a:ln w="12700">
            <a:solidFill>
              <a:srgbClr val="E6852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1097280" y="4535424"/>
            <a:ext cx="48920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Само общество меняется благодаря действиям людей, технологиям и культуре.</a:t>
            </a:r>
            <a:endParaRPr lang="en-US" sz="1650" dirty="0"/>
          </a:p>
        </p:txBody>
      </p:sp>
      <p:pic>
        <p:nvPicPr>
          <p:cNvPr id="12" name="Image 0" descr="/mnt/data/a_wide_clean_pastel_vector_illustration_scene_sh.png"/>
          <p:cNvPicPr>
            <a:picLocks noChangeAspect="1"/>
          </p:cNvPicPr>
          <p:nvPr/>
        </p:nvPicPr>
        <p:blipFill>
          <a:blip r:embed="rId3"/>
          <a:srcRect l="9177" r="9177"/>
          <a:stretch/>
        </p:blipFill>
        <p:spPr>
          <a:xfrm>
            <a:off x="6537960" y="2514600"/>
            <a:ext cx="4709160" cy="3246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593</Words>
  <Application>Microsoft Macintosh PowerPoint</Application>
  <PresentationFormat>Широкоэкранный</PresentationFormat>
  <Paragraphs>82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DejaVu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Понятие общества</dc:title>
  <dc:subject>Доклад по социологии</dc:subject>
  <dc:creator>OpenAI</dc:creator>
  <cp:lastModifiedBy>OFF9336 UserOFF</cp:lastModifiedBy>
  <cp:revision>2</cp:revision>
  <dcterms:created xsi:type="dcterms:W3CDTF">2026-09-18T07:29:00Z</dcterms:created>
  <dcterms:modified xsi:type="dcterms:W3CDTF">2026-09-18T09:53:14Z</dcterms:modified>
</cp:coreProperties>
</file>