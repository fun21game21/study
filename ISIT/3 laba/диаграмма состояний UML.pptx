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834" y="-125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AF463A-BC7C-46EE-9F1E-7F377CCA4891}"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EAF463A-BC7C-46EE-9F1E-7F377CCA4891}"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EAF463A-BC7C-46EE-9F1E-7F377CCA4891}" type="datetimeFigureOut">
              <a:rPr lang="en-US" smtClean="0"/>
              <a:pPr/>
              <a:t>9/30/2024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EAF463A-BC7C-46EE-9F1E-7F377CCA4891}" type="datetimeFigureOut">
              <a:rPr lang="en-US" smtClean="0"/>
              <a:pPr/>
              <a:t>9/30/2024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AF463A-BC7C-46EE-9F1E-7F377CCA4891}" type="datetimeFigureOut">
              <a:rPr lang="en-US" smtClean="0"/>
              <a:pPr/>
              <a:t>9/30/2024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add title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4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F463A-BC7C-46EE-9F1E-7F377CCA4891}" type="datetimeFigureOut">
              <a:rPr lang="en-US" smtClean="0"/>
              <a:pPr/>
              <a:t>9/30/2024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83448D-3A78-4528-A469-B745A65DA4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latinLnBrk="0">
        <a:spcBef>
          <a:spcPct val="0"/>
        </a:spcBef>
        <a:buNone/>
        <a:defRPr sz="4400" kern="1200">
          <a:solidFill>
            <a:schemeClr val="tx1"/>
          </a:solidFill>
          <a:latin typeface="+mj-lt"/>
          <a:ea typeface="+mj-ea"/>
          <a:cs typeface="+mj-cs"/>
        </a:defRPr>
      </a:lvl1pPr>
    </p:titleStyle>
    <p:bodyStyle>
      <a:lvl1pPr marL="342900" indent="-342900" algn="l" defTabSz="914400" rtl="0" latinLnBrk="0">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latinLnBrk="0">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latinLnBrk="0">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latinLnBrk="0">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latinLnBrk="0">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latinLnBrk="0">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latinLnBrk="0">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latinLnBrk="0">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latinLnBrk="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b="1" dirty="0" smtClean="0">
                <a:effectLst>
                  <a:outerShdw blurRad="38100" dist="38100" dir="2700000" algn="tl">
                    <a:srgbClr val="000000">
                      <a:alpha val="43137"/>
                    </a:srgbClr>
                  </a:outerShdw>
                </a:effectLst>
              </a:rPr>
              <a:t>Диаграмма состояний UML</a:t>
            </a:r>
            <a:endParaRPr lang="ru-RU" dirty="0">
              <a:effectLst>
                <a:outerShdw blurRad="38100" dist="38100" dir="2700000" algn="tl">
                  <a:srgbClr val="000000">
                    <a:alpha val="43137"/>
                  </a:srgbClr>
                </a:outerShdw>
              </a:effectLst>
            </a:endParaRPr>
          </a:p>
        </p:txBody>
      </p:sp>
      <p:sp>
        <p:nvSpPr>
          <p:cNvPr id="3" name="Подзаголовок 2"/>
          <p:cNvSpPr>
            <a:spLocks noGrp="1"/>
          </p:cNvSpPr>
          <p:nvPr>
            <p:ph type="subTitle" idx="1"/>
          </p:nvPr>
        </p:nvSpPr>
        <p:spPr/>
        <p:txBody>
          <a:bodyPr/>
          <a:lstStyle/>
          <a:p>
            <a:pPr lvl="0"/>
            <a:r>
              <a:rPr lang="ru-RU" dirty="0" err="1" smtClean="0"/>
              <a:t>Statechart</a:t>
            </a:r>
            <a:r>
              <a:rPr lang="ru-RU" dirty="0" smtClean="0"/>
              <a:t> </a:t>
            </a:r>
            <a:r>
              <a:rPr lang="ru-RU" dirty="0" smtClean="0"/>
              <a:t>/ </a:t>
            </a:r>
            <a:r>
              <a:rPr lang="en-US" dirty="0" smtClean="0"/>
              <a:t>State machine </a:t>
            </a:r>
            <a:r>
              <a:rPr lang="ru-RU" dirty="0" err="1" smtClean="0"/>
              <a:t>diagram</a:t>
            </a:r>
            <a:endParaRPr lang="ru-RU"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000" b="1" dirty="0" smtClean="0"/>
              <a:t>Диаграмма состояний UML</a:t>
            </a:r>
            <a:endParaRPr lang="ru-RU" sz="4000" dirty="0"/>
          </a:p>
        </p:txBody>
      </p:sp>
      <p:sp>
        <p:nvSpPr>
          <p:cNvPr id="3" name="Содержимое 2"/>
          <p:cNvSpPr>
            <a:spLocks noGrp="1"/>
          </p:cNvSpPr>
          <p:nvPr>
            <p:ph idx="1"/>
          </p:nvPr>
        </p:nvSpPr>
        <p:spPr/>
        <p:txBody>
          <a:bodyPr>
            <a:normAutofit fontScale="62500" lnSpcReduction="20000"/>
          </a:bodyPr>
          <a:lstStyle/>
          <a:p>
            <a:pPr lvl="0"/>
            <a:r>
              <a:rPr lang="ru-RU" dirty="0" smtClean="0"/>
              <a:t>показывает, как объект переходит из одного состояния в другое. Диаграммы состояний служат для моделирования динамических аспектов системы. Данная диаграмма полезна при моделировании жизненного цикла объекта. От других диаграмм диаграмма состояний отличается тем, что описывает процесс изменения состояний только одного экземпляра определенного класса - одного объекта, причем объекта реактивного, то есть объекта, поведение которого характеризуется его реакцией на внешние события</a:t>
            </a:r>
          </a:p>
          <a:p>
            <a:pPr lvl="0"/>
            <a:r>
              <a:rPr lang="ru-RU" dirty="0" smtClean="0"/>
              <a:t>Диаграмма состояний позволяет описывать поведение системы</a:t>
            </a:r>
          </a:p>
          <a:p>
            <a:pPr lvl="0"/>
            <a:r>
              <a:rPr lang="ru-RU" dirty="0" smtClean="0"/>
              <a:t>В объектно-ориентированном подходе разрабатывается диаграмма состояний единственного класса, демонстрирующая поведение одного объекта в течение его жизни</a:t>
            </a:r>
          </a:p>
          <a:p>
            <a:pPr lvl="0"/>
            <a:r>
              <a:rPr lang="ru-RU" dirty="0" smtClean="0"/>
              <a:t>Состояние на диаграмме является более абстрактным понятием, чем состояние объекта (последнее есть комбинация всех данных из полей объекта)</a:t>
            </a:r>
          </a:p>
          <a:p>
            <a:pPr lvl="0"/>
            <a:r>
              <a:rPr lang="ru-RU" dirty="0" smtClean="0"/>
              <a:t>Диаграмма позволяет проектировать различные способы реакции на события</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t>Пример построения </a:t>
            </a:r>
            <a:br>
              <a:rPr lang="ru-RU" b="1" dirty="0" smtClean="0"/>
            </a:br>
            <a:r>
              <a:rPr lang="ru-RU" b="1" dirty="0" smtClean="0"/>
              <a:t>диаграммы состояний</a:t>
            </a:r>
            <a:endParaRPr lang="ru-RU" dirty="0"/>
          </a:p>
        </p:txBody>
      </p:sp>
      <p:pic>
        <p:nvPicPr>
          <p:cNvPr id="4" name="Содержимое 3" descr="diargam01-a92d4a446983ba57bfa85597bc982bdb.png"/>
          <p:cNvPicPr>
            <a:picLocks noGrp="1" noChangeAspect="1"/>
          </p:cNvPicPr>
          <p:nvPr>
            <p:ph idx="1"/>
          </p:nvPr>
        </p:nvPicPr>
        <p:blipFill>
          <a:blip r:embed="rId2" cstate="print"/>
          <a:stretch>
            <a:fillRect/>
          </a:stretch>
        </p:blipFill>
        <p:spPr>
          <a:xfrm>
            <a:off x="4876800" y="1600200"/>
            <a:ext cx="3802766" cy="5029200"/>
          </a:xfrm>
        </p:spPr>
      </p:pic>
      <p:sp>
        <p:nvSpPr>
          <p:cNvPr id="1026" name="Rectangle 2"/>
          <p:cNvSpPr>
            <a:spLocks noChangeArrowheads="1"/>
          </p:cNvSpPr>
          <p:nvPr/>
        </p:nvSpPr>
        <p:spPr bwMode="auto">
          <a:xfrm>
            <a:off x="304800" y="2120955"/>
            <a:ext cx="4267200"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l" defTabSz="914400" rtl="0" eaLnBrk="1" fontAlgn="base" latinLnBrk="0" hangingPunct="1">
              <a:lnSpc>
                <a:spcPct val="100000"/>
              </a:lnSpc>
              <a:spcBef>
                <a:spcPct val="0"/>
              </a:spcBef>
              <a:spcAft>
                <a:spcPct val="0"/>
              </a:spcAft>
              <a:buClrTx/>
              <a:buSzTx/>
              <a:buFontTx/>
              <a:buNone/>
              <a:tabLst>
                <a:tab pos="457200" algn="l"/>
              </a:tabLst>
            </a:pPr>
            <a: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построение диаграммы состояний заявки клиента. </a:t>
            </a:r>
          </a:p>
          <a:p>
            <a:pPr marL="0" marR="0" lvl="0" indent="450850" algn="l" defTabSz="914400" rtl="0" eaLnBrk="1" fontAlgn="base" latinLnBrk="0" hangingPunct="1">
              <a:lnSpc>
                <a:spcPct val="100000"/>
              </a:lnSpc>
              <a:spcBef>
                <a:spcPct val="0"/>
              </a:spcBef>
              <a:spcAft>
                <a:spcPct val="0"/>
              </a:spcAft>
              <a:buClrTx/>
              <a:buSzTx/>
              <a:buFontTx/>
              <a:buNone/>
              <a:tabLst>
                <a:tab pos="457200" algn="l"/>
              </a:tabLst>
            </a:pPr>
            <a:endParaRPr lang="ru-RU" sz="2000" dirty="0" smtClean="0">
              <a:solidFill>
                <a:srgbClr val="000000"/>
              </a:solidFill>
              <a:latin typeface="Arial" pitchFamily="34" charset="0"/>
              <a:ea typeface="Times New Roman" pitchFamily="18" charset="0"/>
              <a:cs typeface="Times New Roman" pitchFamily="18" charset="0"/>
            </a:endParaRPr>
          </a:p>
          <a:p>
            <a:pPr marL="0" marR="0" lvl="0" indent="450850" algn="l" defTabSz="914400" rtl="0" eaLnBrk="1" fontAlgn="base" latinLnBrk="0" hangingPunct="1">
              <a:lnSpc>
                <a:spcPct val="100000"/>
              </a:lnSpc>
              <a:spcBef>
                <a:spcPct val="0"/>
              </a:spcBef>
              <a:spcAft>
                <a:spcPct val="0"/>
              </a:spcAft>
              <a:buClrTx/>
              <a:buSzTx/>
              <a:buFontTx/>
              <a:buNone/>
              <a:tabLst>
                <a:tab pos="457200" algn="l"/>
              </a:tabLst>
            </a:pPr>
            <a: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Основные шаги построения диаграммы состояний:</a:t>
            </a:r>
            <a:b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br>
            <a: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
            </a:r>
            <a:b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br>
            <a:endParaRPr kumimoji="0" lang="ru-RU"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45085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добавление состояний</a:t>
            </a:r>
            <a:endParaRPr kumimoji="0" lang="ru-RU"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45085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указание переходов</a:t>
            </a:r>
            <a:endParaRPr kumimoji="0" lang="ru-RU"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45085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добавление внутренних активностей</a:t>
            </a:r>
            <a:endParaRPr kumimoji="0" lang="ru-RU"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450850" algn="l" defTabSz="914400" rtl="0" eaLnBrk="0" fontAlgn="base" latinLnBrk="0" hangingPunct="0">
              <a:lnSpc>
                <a:spcPct val="100000"/>
              </a:lnSpc>
              <a:spcBef>
                <a:spcPct val="0"/>
              </a:spcBef>
              <a:spcAft>
                <a:spcPct val="0"/>
              </a:spcAft>
              <a:buClrTx/>
              <a:buSzTx/>
              <a:buFontTx/>
              <a:buChar char="•"/>
              <a:tabLst>
                <a:tab pos="457200" algn="l"/>
              </a:tabLst>
            </a:pPr>
            <a: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указание </a:t>
            </a:r>
            <a:r>
              <a:rPr kumimoji="0" lang="ru-RU" sz="2000" b="0" i="0" u="none" strike="noStrike" cap="none" normalizeH="0" baseline="0" dirty="0" err="1" smtClean="0">
                <a:ln>
                  <a:noFill/>
                </a:ln>
                <a:solidFill>
                  <a:srgbClr val="000000"/>
                </a:solidFill>
                <a:effectLst/>
                <a:latin typeface="Arial" pitchFamily="34" charset="0"/>
                <a:ea typeface="Times New Roman" pitchFamily="18" charset="0"/>
                <a:cs typeface="Times New Roman" pitchFamily="18" charset="0"/>
              </a:rPr>
              <a:t>подсостояний</a:t>
            </a:r>
            <a:r>
              <a:rPr kumimoji="0" lang="ru-RU" sz="20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 и </a:t>
            </a:r>
            <a:r>
              <a:rPr kumimoji="0" lang="ru-RU" sz="2000" b="0" i="0" u="none" strike="noStrike" cap="none" normalizeH="0" baseline="0" dirty="0" err="1" smtClean="0">
                <a:ln>
                  <a:noFill/>
                </a:ln>
                <a:solidFill>
                  <a:srgbClr val="000000"/>
                </a:solidFill>
                <a:effectLst/>
                <a:latin typeface="Arial" pitchFamily="34" charset="0"/>
                <a:ea typeface="Times New Roman" pitchFamily="18" charset="0"/>
                <a:cs typeface="Times New Roman" pitchFamily="18" charset="0"/>
              </a:rPr>
              <a:t>суперсостояний</a:t>
            </a:r>
            <a:endParaRPr kumimoji="0" lang="ru-RU"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000" b="1" dirty="0" smtClean="0"/>
              <a:t>Основные элементы</a:t>
            </a:r>
            <a:endParaRPr lang="ru-RU" sz="4000" b="1" dirty="0"/>
          </a:p>
        </p:txBody>
      </p:sp>
      <p:graphicFrame>
        <p:nvGraphicFramePr>
          <p:cNvPr id="5" name="Содержимое 4"/>
          <p:cNvGraphicFramePr>
            <a:graphicFrameLocks noGrp="1"/>
          </p:cNvGraphicFramePr>
          <p:nvPr>
            <p:ph idx="1"/>
          </p:nvPr>
        </p:nvGraphicFramePr>
        <p:xfrm>
          <a:off x="228600" y="1203960"/>
          <a:ext cx="8763000" cy="5455920"/>
        </p:xfrm>
        <a:graphic>
          <a:graphicData uri="http://schemas.openxmlformats.org/drawingml/2006/table">
            <a:tbl>
              <a:tblPr firstRow="1" bandRow="1">
                <a:tableStyleId>{2D5ABB26-0587-4C30-8999-92F81FD0307C}</a:tableStyleId>
              </a:tblPr>
              <a:tblGrid>
                <a:gridCol w="2209800"/>
                <a:gridCol w="6553200"/>
              </a:tblGrid>
              <a:tr h="370840">
                <a:tc>
                  <a:txBody>
                    <a:bodyPr/>
                    <a:lstStyle/>
                    <a:p>
                      <a:endParaRPr lang="ru-RU" sz="2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ru-RU" sz="2000" kern="1200" dirty="0" smtClean="0"/>
                        <a:t>Начальное и конечное состояния</a:t>
                      </a:r>
                      <a:endParaRPr lang="ru-RU" sz="2000"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r>
              <a:tr h="370840">
                <a:tc>
                  <a:txBody>
                    <a:bodyPr/>
                    <a:lstStyle/>
                    <a:p>
                      <a:endParaRPr lang="ru-RU" sz="20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kern="1200" dirty="0" smtClean="0"/>
                        <a:t>Состояние. Обязательно содержит имя и может содержать список внутренних действий в состоянии.</a:t>
                      </a:r>
                    </a:p>
                    <a:p>
                      <a:r>
                        <a:rPr lang="ru-RU" sz="2000" kern="1200" dirty="0" smtClean="0"/>
                        <a:t>Основные действия:</a:t>
                      </a:r>
                    </a:p>
                    <a:p>
                      <a:r>
                        <a:rPr lang="ru-RU" sz="2000" kern="1200" dirty="0" smtClean="0"/>
                        <a:t>- </a:t>
                      </a:r>
                      <a:r>
                        <a:rPr lang="ru-RU" sz="2000" kern="1200" dirty="0" err="1" smtClean="0"/>
                        <a:t>entry</a:t>
                      </a:r>
                      <a:r>
                        <a:rPr lang="ru-RU" sz="2000" kern="1200" dirty="0" smtClean="0"/>
                        <a:t> - действие, выполняемое в момент входа в состояние (входное действие);</a:t>
                      </a:r>
                    </a:p>
                    <a:p>
                      <a:r>
                        <a:rPr lang="ru-RU" sz="2000" kern="1200" dirty="0" smtClean="0"/>
                        <a:t>- </a:t>
                      </a:r>
                      <a:r>
                        <a:rPr lang="ru-RU" sz="2000" kern="1200" dirty="0" err="1" smtClean="0"/>
                        <a:t>exit</a:t>
                      </a:r>
                      <a:r>
                        <a:rPr lang="ru-RU" sz="2000" kern="1200" dirty="0" smtClean="0"/>
                        <a:t> - действие, выполняемое в момент выхода из состояния (выходное действие);</a:t>
                      </a:r>
                    </a:p>
                    <a:p>
                      <a:r>
                        <a:rPr lang="ru-RU" sz="2000" kern="1200" dirty="0" smtClean="0"/>
                        <a:t>- </a:t>
                      </a:r>
                      <a:r>
                        <a:rPr lang="ru-RU" sz="2000" kern="1200" dirty="0" err="1" smtClean="0"/>
                        <a:t>do</a:t>
                      </a:r>
                      <a:r>
                        <a:rPr lang="ru-RU" sz="2000" kern="1200" dirty="0" smtClean="0"/>
                        <a:t> - деятельность ("</a:t>
                      </a:r>
                      <a:r>
                        <a:rPr lang="ru-RU" sz="2000" kern="1200" dirty="0" err="1" smtClean="0"/>
                        <a:t>do</a:t>
                      </a:r>
                      <a:r>
                        <a:rPr lang="ru-RU" sz="2000" kern="1200" dirty="0" smtClean="0"/>
                        <a:t> </a:t>
                      </a:r>
                      <a:r>
                        <a:rPr lang="ru-RU" sz="2000" kern="1200" dirty="0" err="1" smtClean="0"/>
                        <a:t>activity</a:t>
                      </a:r>
                      <a:r>
                        <a:rPr lang="ru-RU" sz="2000" kern="1200" dirty="0" smtClean="0"/>
                        <a:t>"), выполняемая в течение всего времени, пока объект находится в состоянии, или до тех пор, пока не закончится вычисление, специфицированное следующим за ней выражением действия.</a:t>
                      </a:r>
                      <a:endParaRPr lang="ru-RU" sz="20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sz="20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ru-RU" sz="2000" kern="1200" dirty="0" smtClean="0"/>
                        <a:t>Переход и событие.</a:t>
                      </a:r>
                    </a:p>
                    <a:p>
                      <a:r>
                        <a:rPr lang="ru-RU" sz="2000" kern="1200" dirty="0" smtClean="0"/>
                        <a:t>Переход из состояния в состояние обозначается стрелкой.</a:t>
                      </a:r>
                    </a:p>
                    <a:p>
                      <a:r>
                        <a:rPr lang="ru-RU" sz="2000" kern="1200" dirty="0" smtClean="0"/>
                        <a:t>Событие - то, что вызывает переход из одного состояния в другое. Событие размещают вдоль линии перехода.</a:t>
                      </a:r>
                      <a:endParaRPr lang="ru-RU" sz="2400" dirty="0" smtClean="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r>
            </a:tbl>
          </a:graphicData>
        </a:graphic>
      </p:graphicFrame>
      <p:pic>
        <p:nvPicPr>
          <p:cNvPr id="8" name="Рисунок 7" descr="Без названия (2).png"/>
          <p:cNvPicPr/>
          <p:nvPr/>
        </p:nvPicPr>
        <p:blipFill>
          <a:blip r:embed="rId2" cstate="print"/>
          <a:stretch>
            <a:fillRect/>
          </a:stretch>
        </p:blipFill>
        <p:spPr>
          <a:xfrm>
            <a:off x="304800" y="1295400"/>
            <a:ext cx="2057400" cy="259411"/>
          </a:xfrm>
          <a:prstGeom prst="rect">
            <a:avLst/>
          </a:prstGeom>
        </p:spPr>
      </p:pic>
      <p:pic>
        <p:nvPicPr>
          <p:cNvPr id="9" name="Рисунок 8" descr="Без названия.png"/>
          <p:cNvPicPr/>
          <p:nvPr/>
        </p:nvPicPr>
        <p:blipFill>
          <a:blip r:embed="rId3" cstate="print"/>
          <a:stretch>
            <a:fillRect/>
          </a:stretch>
        </p:blipFill>
        <p:spPr>
          <a:xfrm>
            <a:off x="228600" y="2819401"/>
            <a:ext cx="2133600" cy="1555750"/>
          </a:xfrm>
          <a:prstGeom prst="rect">
            <a:avLst/>
          </a:prstGeom>
        </p:spPr>
      </p:pic>
      <p:pic>
        <p:nvPicPr>
          <p:cNvPr id="11" name="Рисунок 10" descr="https://docs.ensi.tech/assets/images/diargam04-6e35ddf4885873ba5acdf4808c27b5b6.png"/>
          <p:cNvPicPr/>
          <p:nvPr/>
        </p:nvPicPr>
        <p:blipFill>
          <a:blip r:embed="rId4" cstate="print"/>
          <a:srcRect/>
          <a:stretch>
            <a:fillRect/>
          </a:stretch>
        </p:blipFill>
        <p:spPr bwMode="auto">
          <a:xfrm>
            <a:off x="304800" y="5715000"/>
            <a:ext cx="2084070" cy="58483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000" b="1" dirty="0" smtClean="0"/>
              <a:t>Основные элементы</a:t>
            </a:r>
            <a:endParaRPr lang="ru-RU" sz="4000" b="1" dirty="0"/>
          </a:p>
        </p:txBody>
      </p:sp>
      <p:graphicFrame>
        <p:nvGraphicFramePr>
          <p:cNvPr id="5" name="Содержимое 4"/>
          <p:cNvGraphicFramePr>
            <a:graphicFrameLocks noGrp="1"/>
          </p:cNvGraphicFramePr>
          <p:nvPr>
            <p:ph idx="1"/>
          </p:nvPr>
        </p:nvGraphicFramePr>
        <p:xfrm>
          <a:off x="228600" y="1203960"/>
          <a:ext cx="8763000" cy="5577840"/>
        </p:xfrm>
        <a:graphic>
          <a:graphicData uri="http://schemas.openxmlformats.org/drawingml/2006/table">
            <a:tbl>
              <a:tblPr firstRow="1" bandRow="1">
                <a:tableStyleId>{2D5ABB26-0587-4C30-8999-92F81FD0307C}</a:tableStyleId>
              </a:tblPr>
              <a:tblGrid>
                <a:gridCol w="2209800"/>
                <a:gridCol w="6553200"/>
              </a:tblGrid>
              <a:tr h="5577840">
                <a:tc>
                  <a:txBody>
                    <a:bodyPr/>
                    <a:lstStyle/>
                    <a:p>
                      <a:endParaRPr lang="ru-RU" sz="2000" dirty="0"/>
                    </a:p>
                  </a:txBody>
                  <a:tcPr/>
                </a:tc>
                <a:tc>
                  <a:txBody>
                    <a:bodyPr/>
                    <a:lstStyle/>
                    <a:p>
                      <a:r>
                        <a:rPr lang="ru-RU" sz="2000" kern="1200" dirty="0" smtClean="0">
                          <a:solidFill>
                            <a:schemeClr val="tx1"/>
                          </a:solidFill>
                          <a:latin typeface="+mn-lt"/>
                          <a:ea typeface="+mn-ea"/>
                          <a:cs typeface="+mn-cs"/>
                        </a:rPr>
                        <a:t>Составное состояние и </a:t>
                      </a:r>
                      <a:r>
                        <a:rPr lang="ru-RU" sz="2000" kern="1200" dirty="0" err="1" smtClean="0">
                          <a:solidFill>
                            <a:schemeClr val="tx1"/>
                          </a:solidFill>
                          <a:latin typeface="+mn-lt"/>
                          <a:ea typeface="+mn-ea"/>
                          <a:cs typeface="+mn-cs"/>
                        </a:rPr>
                        <a:t>подсостояния</a:t>
                      </a:r>
                      <a:r>
                        <a:rPr lang="ru-RU" sz="2000" kern="1200" dirty="0" smtClean="0">
                          <a:solidFill>
                            <a:schemeClr val="tx1"/>
                          </a:solidFill>
                          <a:latin typeface="+mn-lt"/>
                          <a:ea typeface="+mn-ea"/>
                          <a:cs typeface="+mn-cs"/>
                        </a:rPr>
                        <a:t>.</a:t>
                      </a:r>
                    </a:p>
                    <a:p>
                      <a:r>
                        <a:rPr lang="ru-RU" sz="2000" kern="1200" dirty="0" smtClean="0">
                          <a:solidFill>
                            <a:schemeClr val="tx1"/>
                          </a:solidFill>
                          <a:latin typeface="+mn-lt"/>
                          <a:ea typeface="+mn-ea"/>
                          <a:cs typeface="+mn-cs"/>
                        </a:rPr>
                        <a:t>Составное состояние - сложное состояние, состоящее из других вложенных в него состояний (</a:t>
                      </a:r>
                      <a:r>
                        <a:rPr lang="ru-RU" sz="2000" kern="1200" dirty="0" err="1" smtClean="0">
                          <a:solidFill>
                            <a:schemeClr val="tx1"/>
                          </a:solidFill>
                          <a:latin typeface="+mn-lt"/>
                          <a:ea typeface="+mn-ea"/>
                          <a:cs typeface="+mn-cs"/>
                        </a:rPr>
                        <a:t>подсостояний</a:t>
                      </a:r>
                      <a:r>
                        <a:rPr lang="ru-RU" sz="2000" kern="1200" dirty="0" smtClean="0">
                          <a:solidFill>
                            <a:schemeClr val="tx1"/>
                          </a:solidFill>
                          <a:latin typeface="+mn-lt"/>
                          <a:ea typeface="+mn-ea"/>
                          <a:cs typeface="+mn-cs"/>
                        </a:rPr>
                        <a:t>).</a:t>
                      </a:r>
                    </a:p>
                    <a:p>
                      <a:r>
                        <a:rPr lang="ru-RU" sz="2000" kern="1200" dirty="0" err="1" smtClean="0">
                          <a:solidFill>
                            <a:schemeClr val="tx1"/>
                          </a:solidFill>
                          <a:latin typeface="+mn-lt"/>
                          <a:ea typeface="+mn-ea"/>
                          <a:cs typeface="+mn-cs"/>
                        </a:rPr>
                        <a:t>Подсостояния</a:t>
                      </a:r>
                      <a:r>
                        <a:rPr lang="ru-RU" sz="2000" kern="1200" dirty="0" smtClean="0">
                          <a:solidFill>
                            <a:schemeClr val="tx1"/>
                          </a:solidFill>
                          <a:latin typeface="+mn-lt"/>
                          <a:ea typeface="+mn-ea"/>
                          <a:cs typeface="+mn-cs"/>
                        </a:rPr>
                        <a:t> могут быть последовательными и параллельными.</a:t>
                      </a:r>
                    </a:p>
                    <a:p>
                      <a:r>
                        <a:rPr lang="ru-RU" sz="2000" kern="1200" dirty="0" smtClean="0">
                          <a:solidFill>
                            <a:schemeClr val="tx1"/>
                          </a:solidFill>
                          <a:latin typeface="+mn-lt"/>
                          <a:ea typeface="+mn-ea"/>
                          <a:cs typeface="+mn-cs"/>
                        </a:rPr>
                        <a:t>Последовательные </a:t>
                      </a:r>
                      <a:r>
                        <a:rPr lang="ru-RU" sz="2000" kern="1200" dirty="0" err="1" smtClean="0">
                          <a:solidFill>
                            <a:schemeClr val="tx1"/>
                          </a:solidFill>
                          <a:latin typeface="+mn-lt"/>
                          <a:ea typeface="+mn-ea"/>
                          <a:cs typeface="+mn-cs"/>
                        </a:rPr>
                        <a:t>подсостояния</a:t>
                      </a:r>
                      <a:r>
                        <a:rPr lang="ru-RU" sz="2000" kern="1200" dirty="0" smtClean="0">
                          <a:solidFill>
                            <a:schemeClr val="tx1"/>
                          </a:solidFill>
                          <a:latin typeface="+mn-lt"/>
                          <a:ea typeface="+mn-ea"/>
                          <a:cs typeface="+mn-cs"/>
                        </a:rPr>
                        <a:t> используются для поведения объекта, когда в каждый момент времени объект может находиться в одном и только одном из </a:t>
                      </a:r>
                      <a:r>
                        <a:rPr lang="ru-RU" sz="2000" kern="1200" dirty="0" err="1" smtClean="0">
                          <a:solidFill>
                            <a:schemeClr val="tx1"/>
                          </a:solidFill>
                          <a:latin typeface="+mn-lt"/>
                          <a:ea typeface="+mn-ea"/>
                          <a:cs typeface="+mn-cs"/>
                        </a:rPr>
                        <a:t>подсостояний</a:t>
                      </a:r>
                      <a:r>
                        <a:rPr lang="ru-RU" sz="2000" kern="1200" dirty="0" smtClean="0">
                          <a:solidFill>
                            <a:schemeClr val="tx1"/>
                          </a:solidFill>
                          <a:latin typeface="+mn-lt"/>
                          <a:ea typeface="+mn-ea"/>
                          <a:cs typeface="+mn-cs"/>
                        </a:rPr>
                        <a:t>.</a:t>
                      </a:r>
                      <a:endParaRPr lang="ru-RU" sz="2000" kern="1200" dirty="0">
                        <a:solidFill>
                          <a:schemeClr val="tx1"/>
                        </a:solidFill>
                        <a:latin typeface="+mn-lt"/>
                        <a:ea typeface="+mn-ea"/>
                        <a:cs typeface="+mn-cs"/>
                      </a:endParaRPr>
                    </a:p>
                  </a:txBody>
                  <a:tcPr/>
                </a:tc>
              </a:tr>
            </a:tbl>
          </a:graphicData>
        </a:graphic>
      </p:graphicFrame>
      <p:pic>
        <p:nvPicPr>
          <p:cNvPr id="7" name="Рисунок 6" descr="Без названия (3).png"/>
          <p:cNvPicPr/>
          <p:nvPr/>
        </p:nvPicPr>
        <p:blipFill>
          <a:blip r:embed="rId2" cstate="print"/>
          <a:stretch>
            <a:fillRect/>
          </a:stretch>
        </p:blipFill>
        <p:spPr>
          <a:xfrm>
            <a:off x="2590800" y="4191000"/>
            <a:ext cx="5791199" cy="2286000"/>
          </a:xfrm>
          <a:prstGeom prst="rect">
            <a:avLst/>
          </a:prstGeom>
        </p:spPr>
      </p:pic>
      <p:pic>
        <p:nvPicPr>
          <p:cNvPr id="10" name="Рисунок 9" descr="Без названия (1).png"/>
          <p:cNvPicPr/>
          <p:nvPr/>
        </p:nvPicPr>
        <p:blipFill>
          <a:blip r:embed="rId3" cstate="print"/>
          <a:stretch>
            <a:fillRect/>
          </a:stretch>
        </p:blipFill>
        <p:spPr>
          <a:xfrm>
            <a:off x="152400" y="1676400"/>
            <a:ext cx="2203155" cy="11735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descr="https://docs.ensi.tech/assets/images/diargam07-06b9613169fd6fc20824e78a6d3d2e32.png"/>
          <p:cNvPicPr/>
          <p:nvPr/>
        </p:nvPicPr>
        <p:blipFill>
          <a:blip r:embed="rId2" cstate="print"/>
          <a:srcRect/>
          <a:stretch>
            <a:fillRect/>
          </a:stretch>
        </p:blipFill>
        <p:spPr bwMode="auto">
          <a:xfrm>
            <a:off x="3657600" y="4191000"/>
            <a:ext cx="5257800" cy="2464154"/>
          </a:xfrm>
          <a:prstGeom prst="rect">
            <a:avLst/>
          </a:prstGeom>
          <a:noFill/>
          <a:ln w="9525">
            <a:noFill/>
            <a:miter lim="800000"/>
            <a:headEnd/>
            <a:tailEnd/>
          </a:ln>
        </p:spPr>
      </p:pic>
      <p:sp>
        <p:nvSpPr>
          <p:cNvPr id="2" name="Заголовок 1"/>
          <p:cNvSpPr>
            <a:spLocks noGrp="1"/>
          </p:cNvSpPr>
          <p:nvPr>
            <p:ph type="title"/>
          </p:nvPr>
        </p:nvSpPr>
        <p:spPr/>
        <p:txBody>
          <a:bodyPr>
            <a:normAutofit/>
          </a:bodyPr>
          <a:lstStyle/>
          <a:p>
            <a:r>
              <a:rPr lang="ru-RU" sz="4000" b="1" dirty="0" smtClean="0"/>
              <a:t>Основные элементы</a:t>
            </a:r>
            <a:endParaRPr lang="ru-RU" sz="4000" b="1" dirty="0"/>
          </a:p>
        </p:txBody>
      </p:sp>
      <p:graphicFrame>
        <p:nvGraphicFramePr>
          <p:cNvPr id="5" name="Содержимое 4"/>
          <p:cNvGraphicFramePr>
            <a:graphicFrameLocks noGrp="1"/>
          </p:cNvGraphicFramePr>
          <p:nvPr>
            <p:ph idx="1"/>
          </p:nvPr>
        </p:nvGraphicFramePr>
        <p:xfrm>
          <a:off x="228600" y="1203960"/>
          <a:ext cx="8763000" cy="5577840"/>
        </p:xfrm>
        <a:graphic>
          <a:graphicData uri="http://schemas.openxmlformats.org/drawingml/2006/table">
            <a:tbl>
              <a:tblPr firstRow="1" bandRow="1">
                <a:tableStyleId>{2D5ABB26-0587-4C30-8999-92F81FD0307C}</a:tableStyleId>
              </a:tblPr>
              <a:tblGrid>
                <a:gridCol w="2209800"/>
                <a:gridCol w="6553200"/>
              </a:tblGrid>
              <a:tr h="5577840">
                <a:tc>
                  <a:txBody>
                    <a:bodyPr/>
                    <a:lstStyle/>
                    <a:p>
                      <a:endParaRPr lang="ru-RU" sz="2000" dirty="0"/>
                    </a:p>
                  </a:txBody>
                  <a:tcPr/>
                </a:tc>
                <a:tc>
                  <a:txBody>
                    <a:bodyPr/>
                    <a:lstStyle/>
                    <a:p>
                      <a:r>
                        <a:rPr lang="ru-RU" sz="2000" kern="1200" dirty="0" smtClean="0">
                          <a:solidFill>
                            <a:schemeClr val="tx1"/>
                          </a:solidFill>
                          <a:latin typeface="+mn-lt"/>
                          <a:ea typeface="+mn-ea"/>
                          <a:cs typeface="+mn-cs"/>
                        </a:rPr>
                        <a:t>Параллельные </a:t>
                      </a:r>
                      <a:r>
                        <a:rPr lang="ru-RU" sz="2000" kern="1200" dirty="0" err="1" smtClean="0">
                          <a:solidFill>
                            <a:schemeClr val="tx1"/>
                          </a:solidFill>
                          <a:latin typeface="+mn-lt"/>
                          <a:ea typeface="+mn-ea"/>
                          <a:cs typeface="+mn-cs"/>
                        </a:rPr>
                        <a:t>подсостояния</a:t>
                      </a:r>
                      <a:r>
                        <a:rPr lang="ru-RU" sz="2000" kern="1200" dirty="0" smtClean="0">
                          <a:solidFill>
                            <a:schemeClr val="tx1"/>
                          </a:solidFill>
                          <a:latin typeface="+mn-lt"/>
                          <a:ea typeface="+mn-ea"/>
                          <a:cs typeface="+mn-cs"/>
                        </a:rPr>
                        <a:t> позволяют специфицировать два и более подавтомата, которые могут выполняться параллельно внутри составного события. Каждый из подавтоматов занимает некоторую область (регион) внутри составного состояния, которая отделяется от остальных горизонтальной пунктирной линией. Если на диаграмме состояний имеется составное состояние с вложенными параллельными </a:t>
                      </a:r>
                      <a:r>
                        <a:rPr lang="ru-RU" sz="2000" kern="1200" dirty="0" err="1" smtClean="0">
                          <a:solidFill>
                            <a:schemeClr val="tx1"/>
                          </a:solidFill>
                          <a:latin typeface="+mn-lt"/>
                          <a:ea typeface="+mn-ea"/>
                          <a:cs typeface="+mn-cs"/>
                        </a:rPr>
                        <a:t>подсостояниями</a:t>
                      </a:r>
                      <a:r>
                        <a:rPr lang="ru-RU" sz="2000" kern="1200" dirty="0" smtClean="0">
                          <a:solidFill>
                            <a:schemeClr val="tx1"/>
                          </a:solidFill>
                          <a:latin typeface="+mn-lt"/>
                          <a:ea typeface="+mn-ea"/>
                          <a:cs typeface="+mn-cs"/>
                        </a:rPr>
                        <a:t>, то объект может одновременно находиться в каждом из этих </a:t>
                      </a:r>
                      <a:r>
                        <a:rPr lang="ru-RU" sz="2000" kern="1200" dirty="0" err="1" smtClean="0">
                          <a:solidFill>
                            <a:schemeClr val="tx1"/>
                          </a:solidFill>
                          <a:latin typeface="+mn-lt"/>
                          <a:ea typeface="+mn-ea"/>
                          <a:cs typeface="+mn-cs"/>
                        </a:rPr>
                        <a:t>подсостояний</a:t>
                      </a:r>
                      <a:r>
                        <a:rPr lang="ru-RU" sz="2000" kern="1200" dirty="0" smtClean="0">
                          <a:solidFill>
                            <a:schemeClr val="tx1"/>
                          </a:solidFill>
                          <a:latin typeface="+mn-lt"/>
                          <a:ea typeface="+mn-ea"/>
                          <a:cs typeface="+mn-cs"/>
                        </a:rPr>
                        <a:t>.</a:t>
                      </a:r>
                    </a:p>
                    <a:p>
                      <a:endParaRPr lang="ru-RU" sz="2000" kern="1200" dirty="0">
                        <a:solidFill>
                          <a:schemeClr val="tx1"/>
                        </a:solidFill>
                        <a:latin typeface="+mn-lt"/>
                        <a:ea typeface="+mn-ea"/>
                        <a:cs typeface="+mn-cs"/>
                      </a:endParaRPr>
                    </a:p>
                  </a:txBody>
                  <a:tcPr/>
                </a:tc>
              </a:tr>
            </a:tbl>
          </a:graphicData>
        </a:graphic>
      </p:graphicFrame>
      <p:pic>
        <p:nvPicPr>
          <p:cNvPr id="10" name="Рисунок 9" descr="Без названия (1).png"/>
          <p:cNvPicPr/>
          <p:nvPr/>
        </p:nvPicPr>
        <p:blipFill>
          <a:blip r:embed="rId3" cstate="print"/>
          <a:stretch>
            <a:fillRect/>
          </a:stretch>
        </p:blipFill>
        <p:spPr>
          <a:xfrm>
            <a:off x="152400" y="1676400"/>
            <a:ext cx="2203155" cy="11735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000" b="1" dirty="0" smtClean="0"/>
              <a:t>Добавление состояний</a:t>
            </a:r>
            <a:endParaRPr lang="ru-RU" sz="4000" dirty="0"/>
          </a:p>
        </p:txBody>
      </p:sp>
      <p:sp>
        <p:nvSpPr>
          <p:cNvPr id="3" name="Содержимое 2"/>
          <p:cNvSpPr>
            <a:spLocks noGrp="1"/>
          </p:cNvSpPr>
          <p:nvPr>
            <p:ph idx="1"/>
          </p:nvPr>
        </p:nvSpPr>
        <p:spPr/>
        <p:txBody>
          <a:bodyPr>
            <a:noAutofit/>
          </a:bodyPr>
          <a:lstStyle/>
          <a:p>
            <a:r>
              <a:rPr lang="ru-RU" sz="2000" b="1" dirty="0" smtClean="0"/>
              <a:t>1.</a:t>
            </a:r>
            <a:r>
              <a:rPr lang="ru-RU" sz="2000" dirty="0" smtClean="0"/>
              <a:t> Добавляем начальное </a:t>
            </a:r>
            <a:r>
              <a:rPr lang="ru-RU" sz="2000" dirty="0" err="1" smtClean="0"/>
              <a:t>псевдосостояние</a:t>
            </a:r>
            <a:endParaRPr lang="ru-RU" sz="2000" dirty="0" smtClean="0"/>
          </a:p>
          <a:p>
            <a:pPr fontAlgn="t"/>
            <a:r>
              <a:rPr lang="ru-RU" sz="2000" dirty="0" smtClean="0"/>
              <a:t>Начальное </a:t>
            </a:r>
            <a:r>
              <a:rPr lang="ru-RU" sz="2000" dirty="0" err="1" smtClean="0"/>
              <a:t>псевдосостояние</a:t>
            </a:r>
            <a:r>
              <a:rPr lang="ru-RU" sz="2000" dirty="0" smtClean="0"/>
              <a:t> (</a:t>
            </a:r>
            <a:r>
              <a:rPr lang="ru-RU" sz="2000" dirty="0" err="1" smtClean="0"/>
              <a:t>initial</a:t>
            </a:r>
            <a:r>
              <a:rPr lang="ru-RU" sz="2000" dirty="0" smtClean="0"/>
              <a:t> </a:t>
            </a:r>
            <a:r>
              <a:rPr lang="ru-RU" sz="2000" dirty="0" err="1" smtClean="0"/>
              <a:t>pseudostate</a:t>
            </a:r>
            <a:r>
              <a:rPr lang="ru-RU" sz="2000" dirty="0" smtClean="0"/>
              <a:t>) не является состоянием, но имеет стрелку, указывающую на начальное состояние</a:t>
            </a:r>
          </a:p>
          <a:p>
            <a:r>
              <a:rPr lang="ru-RU" sz="2000" b="1" dirty="0" smtClean="0"/>
              <a:t>2.</a:t>
            </a:r>
            <a:r>
              <a:rPr lang="ru-RU" sz="2000" dirty="0" smtClean="0"/>
              <a:t> Добавляем возможные состояния</a:t>
            </a:r>
          </a:p>
          <a:p>
            <a:pPr fontAlgn="t"/>
            <a:r>
              <a:rPr lang="ru-RU" sz="2000" dirty="0" smtClean="0"/>
              <a:t>На диаграмме отображаются состояния, в которых объект может находиться продолжительное время. Состояние может быть прервано вследствие наступления определенного события. Пример состояния заявки: «</a:t>
            </a:r>
            <a:r>
              <a:rPr lang="ru-RU" sz="2000" dirty="0" err="1" smtClean="0"/>
              <a:t>created</a:t>
            </a:r>
            <a:r>
              <a:rPr lang="ru-RU" sz="2000" dirty="0" smtClean="0"/>
              <a:t>»</a:t>
            </a:r>
          </a:p>
          <a:p>
            <a:endParaRPr lang="ru-RU" sz="2000" dirty="0"/>
          </a:p>
        </p:txBody>
      </p:sp>
      <p:pic>
        <p:nvPicPr>
          <p:cNvPr id="4" name="Рисунок 3" descr="https://static.tildacdn.com/tild3661-3465-4133-b162-626431333566/WSR_91800_01_20_16St.png"/>
          <p:cNvPicPr/>
          <p:nvPr/>
        </p:nvPicPr>
        <p:blipFill>
          <a:blip r:embed="rId2" cstate="print"/>
          <a:srcRect l="38005" t="31254" r="55017" b="60623"/>
          <a:stretch>
            <a:fillRect/>
          </a:stretch>
        </p:blipFill>
        <p:spPr bwMode="auto">
          <a:xfrm>
            <a:off x="7772400" y="1524000"/>
            <a:ext cx="1047750" cy="685800"/>
          </a:xfrm>
          <a:prstGeom prst="rect">
            <a:avLst/>
          </a:prstGeom>
          <a:noFill/>
          <a:ln w="9525">
            <a:noFill/>
            <a:miter lim="800000"/>
            <a:headEnd/>
            <a:tailEnd/>
          </a:ln>
        </p:spPr>
      </p:pic>
      <p:pic>
        <p:nvPicPr>
          <p:cNvPr id="5" name="Рисунок 4" descr="https://static.tildacdn.com/tild3635-3838-4161-a265-323436303034/WSR_91800_01_47_24St.png"/>
          <p:cNvPicPr/>
          <p:nvPr/>
        </p:nvPicPr>
        <p:blipFill>
          <a:blip r:embed="rId3" cstate="print"/>
          <a:srcRect l="35885" t="30024" r="28555" b="21986"/>
          <a:stretch>
            <a:fillRect/>
          </a:stretch>
        </p:blipFill>
        <p:spPr bwMode="auto">
          <a:xfrm>
            <a:off x="3200400" y="3947764"/>
            <a:ext cx="3831679" cy="2910236"/>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000" b="1" dirty="0" smtClean="0"/>
              <a:t>Указание переходов</a:t>
            </a:r>
            <a:endParaRPr lang="ru-RU" sz="4000" dirty="0"/>
          </a:p>
        </p:txBody>
      </p:sp>
      <p:sp>
        <p:nvSpPr>
          <p:cNvPr id="3" name="Содержимое 2"/>
          <p:cNvSpPr>
            <a:spLocks noGrp="1"/>
          </p:cNvSpPr>
          <p:nvPr>
            <p:ph idx="1"/>
          </p:nvPr>
        </p:nvSpPr>
        <p:spPr/>
        <p:txBody>
          <a:bodyPr>
            <a:normAutofit/>
          </a:bodyPr>
          <a:lstStyle/>
          <a:p>
            <a:r>
              <a:rPr lang="ru-RU" sz="2000" b="1" dirty="0" smtClean="0"/>
              <a:t>1.</a:t>
            </a:r>
            <a:r>
              <a:rPr lang="ru-RU" sz="2000" dirty="0" smtClean="0"/>
              <a:t> Отображаем основные переходы</a:t>
            </a:r>
          </a:p>
          <a:p>
            <a:pPr fontAlgn="t"/>
            <a:r>
              <a:rPr lang="ru-RU" sz="2000" dirty="0" smtClean="0"/>
              <a:t>Переход (</a:t>
            </a:r>
            <a:r>
              <a:rPr lang="ru-RU" sz="2000" dirty="0" err="1" smtClean="0"/>
              <a:t>transition</a:t>
            </a:r>
            <a:r>
              <a:rPr lang="ru-RU" sz="2000" dirty="0" smtClean="0"/>
              <a:t>) означает перемещение из одного состояния в другое и изображается в виде линий, связывающих состояния</a:t>
            </a:r>
          </a:p>
          <a:p>
            <a:endParaRPr lang="ru-RU" sz="2000" dirty="0"/>
          </a:p>
        </p:txBody>
      </p:sp>
      <p:pic>
        <p:nvPicPr>
          <p:cNvPr id="4" name="Рисунок 3" descr="https://static.tildacdn.com/tild3062-3034-4665-b365-346463373236/WSR_91800_02_59_19St.png"/>
          <p:cNvPicPr/>
          <p:nvPr/>
        </p:nvPicPr>
        <p:blipFill>
          <a:blip r:embed="rId2" cstate="print"/>
          <a:srcRect l="34861" t="30496" r="29014" b="22577"/>
          <a:stretch>
            <a:fillRect/>
          </a:stretch>
        </p:blipFill>
        <p:spPr bwMode="auto">
          <a:xfrm>
            <a:off x="2182583" y="2819400"/>
            <a:ext cx="4778833" cy="3487317"/>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000" b="1" dirty="0" smtClean="0"/>
              <a:t>Указание переходов</a:t>
            </a:r>
            <a:endParaRPr lang="ru-RU" sz="4000" dirty="0"/>
          </a:p>
        </p:txBody>
      </p:sp>
      <p:sp>
        <p:nvSpPr>
          <p:cNvPr id="3" name="Содержимое 2"/>
          <p:cNvSpPr>
            <a:spLocks noGrp="1"/>
          </p:cNvSpPr>
          <p:nvPr>
            <p:ph idx="1"/>
          </p:nvPr>
        </p:nvSpPr>
        <p:spPr>
          <a:xfrm>
            <a:off x="457200" y="1600201"/>
            <a:ext cx="3505200" cy="2895600"/>
          </a:xfrm>
        </p:spPr>
        <p:txBody>
          <a:bodyPr>
            <a:noAutofit/>
          </a:bodyPr>
          <a:lstStyle/>
          <a:p>
            <a:r>
              <a:rPr lang="ru-RU" sz="2000" b="1" dirty="0" smtClean="0"/>
              <a:t>2.</a:t>
            </a:r>
            <a:r>
              <a:rPr lang="ru-RU" sz="2000" dirty="0" smtClean="0"/>
              <a:t> Добавляем метки</a:t>
            </a:r>
          </a:p>
          <a:p>
            <a:endParaRPr lang="ru-RU" sz="2000" dirty="0" smtClean="0"/>
          </a:p>
          <a:p>
            <a:r>
              <a:rPr lang="ru-RU" sz="2000" dirty="0" smtClean="0"/>
              <a:t>Каждый переход имеет метку, состоящую из следующих необязательных частей:</a:t>
            </a:r>
            <a:br>
              <a:rPr lang="ru-RU" sz="2000" dirty="0" smtClean="0"/>
            </a:br>
            <a:endParaRPr lang="ru-RU" sz="2000" dirty="0"/>
          </a:p>
        </p:txBody>
      </p:sp>
      <p:pic>
        <p:nvPicPr>
          <p:cNvPr id="4" name="Рисунок 3" descr="https://static.tildacdn.com/tild6431-3739-4735-a333-373631373865/WSR_91800_03_23_00St.png"/>
          <p:cNvPicPr/>
          <p:nvPr/>
        </p:nvPicPr>
        <p:blipFill>
          <a:blip r:embed="rId2" cstate="print"/>
          <a:srcRect l="21040" t="25490" r="20621" b="4762"/>
          <a:stretch>
            <a:fillRect/>
          </a:stretch>
        </p:blipFill>
        <p:spPr bwMode="auto">
          <a:xfrm>
            <a:off x="3886200" y="1219200"/>
            <a:ext cx="5057917" cy="3398292"/>
          </a:xfrm>
          <a:prstGeom prst="rect">
            <a:avLst/>
          </a:prstGeom>
          <a:noFill/>
          <a:ln w="9525">
            <a:noFill/>
            <a:miter lim="800000"/>
            <a:headEnd/>
            <a:tailEnd/>
          </a:ln>
        </p:spPr>
      </p:pic>
      <p:sp>
        <p:nvSpPr>
          <p:cNvPr id="5" name="Прямоугольник 4"/>
          <p:cNvSpPr/>
          <p:nvPr/>
        </p:nvSpPr>
        <p:spPr>
          <a:xfrm>
            <a:off x="304800" y="3934123"/>
            <a:ext cx="8610600" cy="2923877"/>
          </a:xfrm>
          <a:prstGeom prst="rect">
            <a:avLst/>
          </a:prstGeom>
        </p:spPr>
        <p:txBody>
          <a:bodyPr wrap="square">
            <a:spAutoFit/>
          </a:bodyPr>
          <a:lstStyle/>
          <a:p>
            <a:r>
              <a:rPr lang="ru-RU" sz="2000" b="1" dirty="0" smtClean="0"/>
              <a:t>Триггер-идентификатор</a:t>
            </a:r>
            <a:r>
              <a:rPr lang="ru-RU" sz="2000" dirty="0" smtClean="0"/>
              <a:t> — единственное событие, способное вызвать изменение состояния. Пропуск этой части означает, что переход происходит немедленно</a:t>
            </a:r>
            <a:br>
              <a:rPr lang="ru-RU" sz="2000" dirty="0" smtClean="0"/>
            </a:br>
            <a:r>
              <a:rPr lang="ru-RU" sz="2000" b="1" dirty="0" smtClean="0"/>
              <a:t>Защита</a:t>
            </a:r>
            <a:r>
              <a:rPr lang="ru-RU" sz="2000" dirty="0" smtClean="0"/>
              <a:t> — логическое условие, выполнение которого обязательно для осуществления перехода. Пропуск защиты означает, что в ответ на инициирующее событие переход всегда осуществляется</a:t>
            </a:r>
            <a:br>
              <a:rPr lang="ru-RU" sz="2000" dirty="0" smtClean="0"/>
            </a:br>
            <a:r>
              <a:rPr lang="ru-RU" sz="2000" b="1" dirty="0" smtClean="0"/>
              <a:t>Активность</a:t>
            </a:r>
            <a:r>
              <a:rPr lang="ru-RU" sz="2000" dirty="0" smtClean="0"/>
              <a:t> — поведение системы во время перехода. Пропуск активности означает, что в процессе перехода ничего не происходит</a:t>
            </a:r>
          </a:p>
          <a:p>
            <a:endParaRPr lang="ru-RU"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https://static.tildacdn.com/tild6434-3333-4666-a231-336632633466/WSR_91800_04_44_24St.png"/>
          <p:cNvPicPr/>
          <p:nvPr/>
        </p:nvPicPr>
        <p:blipFill>
          <a:blip r:embed="rId2" cstate="print"/>
          <a:srcRect l="27222" t="16897" r="21120" b="15862"/>
          <a:stretch>
            <a:fillRect/>
          </a:stretch>
        </p:blipFill>
        <p:spPr bwMode="auto">
          <a:xfrm>
            <a:off x="4114800" y="228600"/>
            <a:ext cx="4866848" cy="3559716"/>
          </a:xfrm>
          <a:prstGeom prst="rect">
            <a:avLst/>
          </a:prstGeom>
          <a:noFill/>
          <a:ln w="9525">
            <a:noFill/>
            <a:miter lim="800000"/>
            <a:headEnd/>
            <a:tailEnd/>
          </a:ln>
        </p:spPr>
      </p:pic>
      <p:sp>
        <p:nvSpPr>
          <p:cNvPr id="2" name="Заголовок 1"/>
          <p:cNvSpPr>
            <a:spLocks noGrp="1"/>
          </p:cNvSpPr>
          <p:nvPr>
            <p:ph type="title"/>
          </p:nvPr>
        </p:nvSpPr>
        <p:spPr>
          <a:xfrm>
            <a:off x="457200" y="274638"/>
            <a:ext cx="4114800" cy="1706562"/>
          </a:xfrm>
        </p:spPr>
        <p:txBody>
          <a:bodyPr>
            <a:normAutofit fontScale="90000"/>
          </a:bodyPr>
          <a:lstStyle/>
          <a:p>
            <a:r>
              <a:rPr lang="ru-RU" b="1" dirty="0" smtClean="0"/>
              <a:t>Добавление внутренних активностей</a:t>
            </a:r>
            <a:endParaRPr lang="ru-RU" dirty="0"/>
          </a:p>
        </p:txBody>
      </p:sp>
      <p:sp>
        <p:nvSpPr>
          <p:cNvPr id="3" name="Содержимое 2"/>
          <p:cNvSpPr>
            <a:spLocks noGrp="1"/>
          </p:cNvSpPr>
          <p:nvPr>
            <p:ph idx="1"/>
          </p:nvPr>
        </p:nvSpPr>
        <p:spPr>
          <a:xfrm>
            <a:off x="304800" y="2133601"/>
            <a:ext cx="5638800" cy="1752600"/>
          </a:xfrm>
        </p:spPr>
        <p:txBody>
          <a:bodyPr>
            <a:noAutofit/>
          </a:bodyPr>
          <a:lstStyle/>
          <a:p>
            <a:r>
              <a:rPr lang="ru-RU" sz="2000" dirty="0" smtClean="0"/>
              <a:t>Внутренние активности (</a:t>
            </a:r>
            <a:r>
              <a:rPr lang="ru-RU" sz="2000" dirty="0" err="1" smtClean="0"/>
              <a:t>internal</a:t>
            </a:r>
            <a:r>
              <a:rPr lang="ru-RU" sz="2000" dirty="0" smtClean="0"/>
              <a:t> </a:t>
            </a:r>
            <a:r>
              <a:rPr lang="ru-RU" sz="2000" dirty="0" err="1" smtClean="0"/>
              <a:t>activities</a:t>
            </a:r>
            <a:r>
              <a:rPr lang="ru-RU" sz="2000" dirty="0" smtClean="0"/>
              <a:t>) используются для описания действий объекта, совершаемых без перехода. Список основных действий включает следующие значения:</a:t>
            </a:r>
          </a:p>
        </p:txBody>
      </p:sp>
      <p:sp>
        <p:nvSpPr>
          <p:cNvPr id="5" name="Прямоугольник 4"/>
          <p:cNvSpPr/>
          <p:nvPr/>
        </p:nvSpPr>
        <p:spPr>
          <a:xfrm>
            <a:off x="228600" y="3380125"/>
            <a:ext cx="8686800" cy="3477875"/>
          </a:xfrm>
          <a:prstGeom prst="rect">
            <a:avLst/>
          </a:prstGeom>
        </p:spPr>
        <p:txBody>
          <a:bodyPr wrap="square">
            <a:spAutoFit/>
          </a:bodyPr>
          <a:lstStyle/>
          <a:p>
            <a:pPr lvl="0"/>
            <a:r>
              <a:rPr lang="ru-RU" sz="2000" b="1" dirty="0" smtClean="0"/>
              <a:t>входное действие (</a:t>
            </a:r>
            <a:r>
              <a:rPr lang="ru-RU" sz="2000" b="1" dirty="0" err="1" smtClean="0"/>
              <a:t>entry</a:t>
            </a:r>
            <a:r>
              <a:rPr lang="ru-RU" sz="2000" b="1" dirty="0" smtClean="0"/>
              <a:t>)</a:t>
            </a:r>
            <a:r>
              <a:rPr lang="ru-RU" sz="2000" dirty="0" smtClean="0"/>
              <a:t> — </a:t>
            </a:r>
            <a:r>
              <a:rPr lang="ru-RU" sz="2000" dirty="0" err="1" smtClean="0"/>
              <a:t>действие</a:t>
            </a:r>
            <a:r>
              <a:rPr lang="ru-RU" sz="2000" dirty="0" smtClean="0"/>
              <a:t>, которое выполняется в момент входа в данное состояние</a:t>
            </a:r>
          </a:p>
          <a:p>
            <a:pPr lvl="0"/>
            <a:r>
              <a:rPr lang="ru-RU" sz="2000" b="1" dirty="0" smtClean="0"/>
              <a:t>выходное действие (</a:t>
            </a:r>
            <a:r>
              <a:rPr lang="ru-RU" sz="2000" b="1" dirty="0" err="1" smtClean="0"/>
              <a:t>exit</a:t>
            </a:r>
            <a:r>
              <a:rPr lang="ru-RU" sz="2000" b="1" dirty="0" smtClean="0"/>
              <a:t>)</a:t>
            </a:r>
            <a:r>
              <a:rPr lang="ru-RU" sz="2000" dirty="0" smtClean="0"/>
              <a:t> — </a:t>
            </a:r>
            <a:r>
              <a:rPr lang="ru-RU" sz="2000" dirty="0" err="1" smtClean="0"/>
              <a:t>действие</a:t>
            </a:r>
            <a:r>
              <a:rPr lang="ru-RU" sz="2000" dirty="0" smtClean="0"/>
              <a:t>, которое выполняется в момент выхода из данного состояния</a:t>
            </a:r>
          </a:p>
          <a:p>
            <a:pPr lvl="0"/>
            <a:r>
              <a:rPr lang="ru-RU" sz="2000" b="1" dirty="0" smtClean="0"/>
              <a:t>выполняющая деятельность (</a:t>
            </a:r>
            <a:r>
              <a:rPr lang="ru-RU" sz="2000" b="1" dirty="0" err="1" smtClean="0"/>
              <a:t>do</a:t>
            </a:r>
            <a:r>
              <a:rPr lang="ru-RU" sz="2000" b="1" dirty="0" smtClean="0"/>
              <a:t>)</a:t>
            </a:r>
            <a:r>
              <a:rPr lang="ru-RU" sz="2000" dirty="0" smtClean="0"/>
              <a:t> — действие, которое выполняется в течение всего времени нахождения объекта в данном состоянии. Разница между обычными и выполняющими деятельностями / активностями состоит в том, что первые происходят мгновенно и не могут быть прерваны обычными событиями</a:t>
            </a:r>
          </a:p>
          <a:p>
            <a:r>
              <a:rPr lang="ru-RU" sz="2000" dirty="0" smtClean="0"/>
              <a:t>В данном примере с помощью внутренней активности «</a:t>
            </a:r>
            <a:r>
              <a:rPr lang="ru-RU" sz="2000" dirty="0" err="1" smtClean="0"/>
              <a:t>do</a:t>
            </a:r>
            <a:r>
              <a:rPr lang="ru-RU" sz="2000" dirty="0" smtClean="0"/>
              <a:t>/</a:t>
            </a:r>
            <a:r>
              <a:rPr lang="ru-RU" sz="2000" dirty="0" err="1" smtClean="0"/>
              <a:t>checkResponse</a:t>
            </a:r>
            <a:r>
              <a:rPr lang="ru-RU" sz="2000" dirty="0" smtClean="0"/>
              <a:t>» заявка может проверять, пришел ли ответ от тренера</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https://static.tildacdn.com/tild3536-6332-4830-b964-663239623565/WSR_91800_05_10_00St.png"/>
          <p:cNvPicPr/>
          <p:nvPr/>
        </p:nvPicPr>
        <p:blipFill>
          <a:blip r:embed="rId2" cstate="print"/>
          <a:srcRect l="28896" t="18066" r="11958" b="18772"/>
          <a:stretch>
            <a:fillRect/>
          </a:stretch>
        </p:blipFill>
        <p:spPr bwMode="auto">
          <a:xfrm>
            <a:off x="3505200" y="1735126"/>
            <a:ext cx="5638800" cy="3387747"/>
          </a:xfrm>
          <a:prstGeom prst="rect">
            <a:avLst/>
          </a:prstGeom>
          <a:noFill/>
          <a:ln w="9525">
            <a:noFill/>
            <a:miter lim="800000"/>
            <a:headEnd/>
            <a:tailEnd/>
          </a:ln>
        </p:spPr>
      </p:pic>
      <p:sp>
        <p:nvSpPr>
          <p:cNvPr id="2" name="Заголовок 1"/>
          <p:cNvSpPr>
            <a:spLocks noGrp="1"/>
          </p:cNvSpPr>
          <p:nvPr>
            <p:ph type="title"/>
          </p:nvPr>
        </p:nvSpPr>
        <p:spPr/>
        <p:txBody>
          <a:bodyPr>
            <a:normAutofit fontScale="90000"/>
          </a:bodyPr>
          <a:lstStyle/>
          <a:p>
            <a:r>
              <a:rPr lang="ru-RU" b="1" dirty="0" smtClean="0"/>
              <a:t>Работа с общими переходами и внутренними активностями</a:t>
            </a:r>
            <a:endParaRPr lang="ru-RU" dirty="0"/>
          </a:p>
        </p:txBody>
      </p:sp>
      <p:sp>
        <p:nvSpPr>
          <p:cNvPr id="3" name="Содержимое 2"/>
          <p:cNvSpPr>
            <a:spLocks noGrp="1"/>
          </p:cNvSpPr>
          <p:nvPr>
            <p:ph idx="1"/>
          </p:nvPr>
        </p:nvSpPr>
        <p:spPr>
          <a:xfrm>
            <a:off x="0" y="1600200"/>
            <a:ext cx="4114800" cy="4525963"/>
          </a:xfrm>
        </p:spPr>
        <p:txBody>
          <a:bodyPr>
            <a:normAutofit/>
          </a:bodyPr>
          <a:lstStyle/>
          <a:p>
            <a:r>
              <a:rPr lang="ru-RU" sz="2000" dirty="0" smtClean="0"/>
              <a:t>В случае наличия у нескольких состояний общих переходов и внутренних активностей, само состояние можно превратить в </a:t>
            </a:r>
            <a:r>
              <a:rPr lang="ru-RU" sz="2000" dirty="0" err="1" smtClean="0"/>
              <a:t>подсостояние</a:t>
            </a:r>
            <a:r>
              <a:rPr lang="ru-RU" sz="2000" dirty="0" smtClean="0"/>
              <a:t> (</a:t>
            </a:r>
            <a:r>
              <a:rPr lang="ru-RU" sz="2000" dirty="0" err="1" smtClean="0"/>
              <a:t>substates</a:t>
            </a:r>
            <a:r>
              <a:rPr lang="ru-RU" sz="2000" dirty="0" smtClean="0"/>
              <a:t>), а их общее поведение перенести в </a:t>
            </a:r>
            <a:r>
              <a:rPr lang="ru-RU" sz="2000" dirty="0" err="1" smtClean="0"/>
              <a:t>суперсостояние</a:t>
            </a:r>
            <a:r>
              <a:rPr lang="ru-RU" sz="2000" dirty="0" smtClean="0"/>
              <a:t> (</a:t>
            </a:r>
            <a:r>
              <a:rPr lang="ru-RU" sz="2000" dirty="0" err="1" smtClean="0"/>
              <a:t>superstate</a:t>
            </a:r>
            <a:r>
              <a:rPr lang="ru-RU" sz="2000" dirty="0" smtClean="0"/>
              <a:t>). В данном примере заявка может быть отклонена как из состояния «</a:t>
            </a:r>
            <a:r>
              <a:rPr lang="ru-RU" sz="2000" dirty="0" err="1" smtClean="0"/>
              <a:t>Created</a:t>
            </a:r>
            <a:r>
              <a:rPr lang="ru-RU" sz="2000" dirty="0" smtClean="0"/>
              <a:t>», так и из состояния «</a:t>
            </a:r>
            <a:r>
              <a:rPr lang="ru-RU" sz="2000" dirty="0" err="1" smtClean="0"/>
              <a:t>Accepted</a:t>
            </a:r>
            <a:r>
              <a:rPr lang="ru-RU" sz="2000" dirty="0" smtClean="0"/>
              <a:t>». Эти состояния могут быть объединены в </a:t>
            </a:r>
            <a:r>
              <a:rPr lang="ru-RU" sz="2000" dirty="0" err="1" smtClean="0"/>
              <a:t>суперсостояние</a:t>
            </a:r>
            <a:r>
              <a:rPr lang="ru-RU" sz="2000" dirty="0" smtClean="0"/>
              <a:t> «</a:t>
            </a:r>
            <a:r>
              <a:rPr lang="ru-RU" sz="2000" dirty="0" err="1" smtClean="0"/>
              <a:t>Cancelable</a:t>
            </a:r>
            <a:r>
              <a:rPr lang="ru-RU" sz="2000" dirty="0" smtClean="0"/>
              <a:t>»</a:t>
            </a:r>
          </a:p>
          <a:p>
            <a:endParaRPr lang="ru-RU"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388</Words>
  <Application>Microsoft Office PowerPoint</Application>
  <PresentationFormat>Экран (4:3)</PresentationFormat>
  <Paragraphs>54</Paragraphs>
  <Slides>11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11</vt:i4>
      </vt:variant>
    </vt:vector>
  </HeadingPairs>
  <TitlesOfParts>
    <vt:vector size="12" baseType="lpstr">
      <vt:lpstr>Office Theme</vt:lpstr>
      <vt:lpstr>Диаграмма состояний UML</vt:lpstr>
      <vt:lpstr>Диаграмма состояний UML</vt:lpstr>
      <vt:lpstr>Пример построения  диаграммы состояний</vt:lpstr>
      <vt:lpstr>Основные элементы</vt:lpstr>
      <vt:lpstr>Основные элементы</vt:lpstr>
      <vt:lpstr>Основные элементы</vt:lpstr>
      <vt:lpstr>Добавление состояний</vt:lpstr>
      <vt:lpstr>Указание переходов</vt:lpstr>
      <vt:lpstr>Указание переходов</vt:lpstr>
      <vt:lpstr>Добавление внутренних активностей</vt:lpstr>
      <vt:lpstr>Работа с общими переходами и внутренними активностями</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Диаграмма состояний UML</dc:title>
  <dc:creator>Olga Mitsura</dc:creator>
  <cp:lastModifiedBy>Olga Mitsura</cp:lastModifiedBy>
  <cp:revision>2</cp:revision>
  <dcterms:created xsi:type="dcterms:W3CDTF">2024-09-30T08:16:39Z</dcterms:created>
  <dcterms:modified xsi:type="dcterms:W3CDTF">2024-09-30T09:40:29Z</dcterms:modified>
</cp:coreProperties>
</file>