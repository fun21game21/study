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72" y="-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8A80F-5665-4EF9-B335-6544CB48057C}" type="datetimeFigureOut">
              <a:rPr lang="ru-RU" smtClean="0"/>
              <a:t>01.10.2024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835CF-F6AE-4783-A492-73B22A96EC9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835CF-F6AE-4783-A492-73B22A96EC9C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835CF-F6AE-4783-A492-73B22A96EC9C}" type="slidenum">
              <a:rPr lang="ru-RU" smtClean="0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835CF-F6AE-4783-A492-73B22A96EC9C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ely.com/ru/lp/%d0%94%d0%b8%d0%b0%d0%b3%d1%80%d0%b0%d0%bc%d0%bc%d0%b0-%d0%9f%d0%bb%d0%b0%d0%b2%d0%b0%d1%82%d0%b5%d0%bb%d1%8c%d0%bd%d1%8b%d0%b5-%d0%b4%d0%be%d1%80%d0%be%d0%b6%d0%ba%d0%b8-%d0%9f%d1%80%d0%be%d0%b3%d1%80%d0%b0%d0%bc%d0%bc%d0%bd%d0%be%d0%b5-%d0%be%d0%b1%d0%b5%d1%81%d0%bf%d0%b5%d1%87%d0%b5%d0%bd%d0%b8%d0%b5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Диаграмма деятельности / активности UML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ru-RU" dirty="0" err="1" smtClean="0"/>
              <a:t>Activity</a:t>
            </a:r>
            <a:r>
              <a:rPr lang="ru-RU" b="1" dirty="0" smtClean="0"/>
              <a:t> </a:t>
            </a:r>
            <a:r>
              <a:rPr lang="ru-RU" dirty="0" err="1" smtClean="0"/>
              <a:t>diagram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Диаграмма активности</a:t>
            </a:r>
            <a:r>
              <a:rPr lang="ru-RU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4000" b="1" dirty="0" smtClean="0"/>
              <a:t>UML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smtClean="0"/>
              <a:t>Диаграмма активностей (видов деятельности) отображает динамические аспекты поведения системы. Эта диаграмма представляет собой блок-схему, которая наглядно показывает, как поток управления переходит от одной деятельности к другой.</a:t>
            </a:r>
          </a:p>
          <a:p>
            <a:r>
              <a:rPr lang="ru-RU" dirty="0" smtClean="0"/>
              <a:t>Диаграмма для демонстрации рабочего процесса некоторой деятельности, основанной на поэтапных действиях и действиях с поддержкой выбора и параллелизма</a:t>
            </a:r>
          </a:p>
          <a:p>
            <a:r>
              <a:rPr lang="ru-RU" dirty="0" smtClean="0"/>
              <a:t>Диаграмма деятельности — технология, позволяющая описывать логику процедур, бизнес-процессы и потоки работ</a:t>
            </a:r>
          </a:p>
          <a:p>
            <a:r>
              <a:rPr lang="ru-RU" dirty="0" smtClean="0"/>
              <a:t>Основным отличием диаграмм деятельности от блок-схем является активная поддержка параллельных процессов, что объясняет применение диаграммы деятельности для моделирования потоков работ</a:t>
            </a:r>
          </a:p>
          <a:p>
            <a:r>
              <a:rPr lang="ru-RU" dirty="0" smtClean="0"/>
              <a:t>технология позволяет наглядно визуализировать происходящие бизнес-процессы и существующие потоки движения.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Пример построения </a:t>
            </a:r>
            <a:br>
              <a:rPr lang="ru-RU" b="1" dirty="0" smtClean="0"/>
            </a:br>
            <a:r>
              <a:rPr lang="ru-RU" b="1" dirty="0" smtClean="0"/>
              <a:t>диаграммы активностей</a:t>
            </a:r>
            <a:endParaRPr lang="ru-RU" dirty="0"/>
          </a:p>
        </p:txBody>
      </p:sp>
      <p:pic>
        <p:nvPicPr>
          <p:cNvPr id="7" name="Содержимое 6" descr="https://docs.ensi.tech/assets/images/activity1-c0f32e80a76c92fb315b48384ff40363.pn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79197" y="1524000"/>
            <a:ext cx="486480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" y="1225689"/>
            <a:ext cx="441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 smtClean="0"/>
              <a:t>Активности на диаграмме “разбросаны” по беговым дорожкам, каждая из которых соответствует поведению одного из объектов (например, клиента, менеджера, </a:t>
            </a:r>
            <a:r>
              <a:rPr lang="ru-RU" sz="2000" dirty="0" err="1" smtClean="0"/>
              <a:t>веб-сервера</a:t>
            </a:r>
            <a:r>
              <a:rPr lang="ru-RU" sz="2000" dirty="0" smtClean="0"/>
              <a:t>, сервера БД и т.п.). Благодаря этому легко определить, каким из объектов выполняется каждая из активностей. Дорожка - часть области диаграммы деятельности, на которой отображаются только </a:t>
            </a:r>
            <a:r>
              <a:rPr lang="ru-RU" sz="2000" b="1" dirty="0" smtClean="0"/>
              <a:t>те активности, за которые отвечает конкретный объект</a:t>
            </a:r>
            <a:r>
              <a:rPr lang="ru-RU" sz="2000" dirty="0" smtClean="0"/>
              <a:t>. Предназначены дорожки для разбиения диаграммы в соответствии </a:t>
            </a:r>
            <a:r>
              <a:rPr lang="ru-RU" sz="2000" b="1" dirty="0" smtClean="0"/>
              <a:t>с распределением ответственности за действия</a:t>
            </a:r>
            <a:r>
              <a:rPr lang="ru-RU" sz="2000" dirty="0" smtClean="0"/>
              <a:t>. Имя дорожки может означать роль или объект, которому она соответствует.</a:t>
            </a:r>
            <a:endParaRPr lang="ru-RU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Основные элементы</a:t>
            </a:r>
            <a:endParaRPr lang="ru-RU" sz="4000" b="1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228600" y="1203960"/>
          <a:ext cx="8763000" cy="2575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7315200"/>
              </a:tblGrid>
              <a:tr h="4724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Пуск/ начальный узел. </a:t>
                      </a:r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Обозначает начало процесса.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Активное состояние . Описывает состояние/действие, составляющее моделируемый процесс.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Переход . Обозначает переход при завершении одного состояния в другое состояние.</a:t>
                      </a:r>
                      <a:endParaRPr lang="ru-RU" sz="2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Сообщение . Обозначает сообщение/поток данных, получаемых в состоянии.</a:t>
                      </a:r>
                      <a:endParaRPr lang="ru-RU" sz="2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Рисунок 7" descr="Без названия.png"/>
          <p:cNvPicPr/>
          <p:nvPr/>
        </p:nvPicPr>
        <p:blipFill>
          <a:blip r:embed="rId3" cstate="print"/>
          <a:srcRect r="10000" b="-139"/>
          <a:stretch>
            <a:fillRect/>
          </a:stretch>
        </p:blipFill>
        <p:spPr>
          <a:xfrm>
            <a:off x="685800" y="1219200"/>
            <a:ext cx="457200" cy="457200"/>
          </a:xfrm>
          <a:prstGeom prst="flowChartConnector">
            <a:avLst/>
          </a:prstGeom>
        </p:spPr>
      </p:pic>
      <p:pic>
        <p:nvPicPr>
          <p:cNvPr id="9" name="Рисунок 8" descr="Без названия (1).png"/>
          <p:cNvPicPr/>
          <p:nvPr/>
        </p:nvPicPr>
        <p:blipFill>
          <a:blip r:embed="rId4" cstate="print"/>
          <a:srcRect t="11347" r="6667" b="9220"/>
          <a:stretch>
            <a:fillRect/>
          </a:stretch>
        </p:blipFill>
        <p:spPr>
          <a:xfrm>
            <a:off x="457200" y="1752600"/>
            <a:ext cx="1066800" cy="533400"/>
          </a:xfrm>
          <a:prstGeom prst="rect">
            <a:avLst/>
          </a:prstGeom>
        </p:spPr>
      </p:pic>
      <p:pic>
        <p:nvPicPr>
          <p:cNvPr id="10" name="Рисунок 9" descr="Без названия (2)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800" y="2438400"/>
            <a:ext cx="1219200" cy="443484"/>
          </a:xfrm>
          <a:prstGeom prst="rect">
            <a:avLst/>
          </a:prstGeom>
        </p:spPr>
      </p:pic>
      <p:pic>
        <p:nvPicPr>
          <p:cNvPr id="11" name="Рисунок 10" descr="Без названия (3)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000" y="3128772"/>
            <a:ext cx="990600" cy="376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Содержимое 4"/>
          <p:cNvGraphicFramePr>
            <a:graphicFrameLocks/>
          </p:cNvGraphicFramePr>
          <p:nvPr/>
        </p:nvGraphicFramePr>
        <p:xfrm>
          <a:off x="304800" y="1417320"/>
          <a:ext cx="6019800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7916"/>
                <a:gridCol w="4931884"/>
              </a:tblGrid>
              <a:tr h="3962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Синхронизатор/узел соединения.</a:t>
                      </a:r>
                      <a:r>
                        <a:rPr lang="ru-RU" sz="2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Используется при переходе нескольких состояний/действий в одно. Может быть как горизонтальным, так и вертикальным.</a:t>
                      </a:r>
                      <a:endParaRPr lang="ru-RU" sz="2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Разветвитель</a:t>
                      </a:r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/узел разделения.</a:t>
                      </a:r>
                      <a:r>
                        <a:rPr lang="ru-RU" sz="2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Используется при переходе из одного состояния/действия в несколько. Может быть как горизонтальным, так и вертикальным.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Основные элементы</a:t>
            </a:r>
            <a:endParaRPr lang="ru-RU" sz="4000" b="1" dirty="0"/>
          </a:p>
        </p:txBody>
      </p:sp>
      <p:pic>
        <p:nvPicPr>
          <p:cNvPr id="12" name="Рисунок 11" descr="Без названия (4)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676400"/>
            <a:ext cx="1066801" cy="828105"/>
          </a:xfrm>
          <a:prstGeom prst="rect">
            <a:avLst/>
          </a:prstGeom>
        </p:spPr>
      </p:pic>
      <p:pic>
        <p:nvPicPr>
          <p:cNvPr id="13" name="Рисунок 12" descr="Без названия (5)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3124200"/>
            <a:ext cx="990600" cy="967073"/>
          </a:xfrm>
          <a:prstGeom prst="rect">
            <a:avLst/>
          </a:prstGeom>
        </p:spPr>
      </p:pic>
      <p:pic>
        <p:nvPicPr>
          <p:cNvPr id="15" name="Рисунок 14" descr="https://docs.ensi.tech/assets/images/activity09-cb31a09e3834da5915adafc2cf4deb03.pn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24599" y="990600"/>
            <a:ext cx="28194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Рисунок 16" descr="https://docs.ensi.tech/assets/images/activity15-a400a3a0c78d72270b3313464893e8e9.pn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33800" y="3668395"/>
            <a:ext cx="2881630" cy="3189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Основные элементы</a:t>
            </a:r>
            <a:endParaRPr lang="ru-RU" sz="4000" b="1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228600" y="1203960"/>
          <a:ext cx="8763000" cy="280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7315200"/>
              </a:tblGrid>
              <a:tr h="4724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Принятие/узел решения. Из решения доступны как минимум 2 перехода с указанными условиями (часто: да/нет).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Комментарий . Комментарий к состоянию/действию, переходу, старту/окончанию процесса и т.д.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Узел передачи сигнала. Действие, которое на основе своих входов создает </a:t>
                      </a:r>
                      <a:r>
                        <a:rPr lang="ru-RU" sz="20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экземляр</a:t>
                      </a:r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сигнала и передает его объекту цели.</a:t>
                      </a:r>
                      <a:endParaRPr lang="ru-RU" sz="2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Узел приема события . Действие, которое ожидает наступление некоторого события</a:t>
                      </a:r>
                      <a:endParaRPr lang="ru-RU" sz="2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" name="Рисунок 15" descr="Без названия (6)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1219199"/>
            <a:ext cx="584200" cy="557911"/>
          </a:xfrm>
          <a:prstGeom prst="rect">
            <a:avLst/>
          </a:prstGeom>
        </p:spPr>
      </p:pic>
      <p:pic>
        <p:nvPicPr>
          <p:cNvPr id="17" name="Рисунок 16" descr="Без названия (7).png"/>
          <p:cNvPicPr/>
          <p:nvPr/>
        </p:nvPicPr>
        <p:blipFill>
          <a:blip r:embed="rId4" cstate="print"/>
          <a:srcRect b="10213"/>
          <a:stretch>
            <a:fillRect/>
          </a:stretch>
        </p:blipFill>
        <p:spPr>
          <a:xfrm>
            <a:off x="533400" y="1981200"/>
            <a:ext cx="838200" cy="609600"/>
          </a:xfrm>
          <a:prstGeom prst="rect">
            <a:avLst/>
          </a:prstGeom>
        </p:spPr>
      </p:pic>
      <p:pic>
        <p:nvPicPr>
          <p:cNvPr id="18" name="Рисунок 17" descr="Без названия (8)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" y="2743200"/>
            <a:ext cx="1084519" cy="497523"/>
          </a:xfrm>
          <a:prstGeom prst="rect">
            <a:avLst/>
          </a:prstGeom>
        </p:spPr>
      </p:pic>
      <p:pic>
        <p:nvPicPr>
          <p:cNvPr id="19" name="Рисунок 18" descr="Без названия (9)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000" y="3429000"/>
            <a:ext cx="990600" cy="503968"/>
          </a:xfrm>
          <a:prstGeom prst="rect">
            <a:avLst/>
          </a:prstGeom>
        </p:spPr>
      </p:pic>
      <p:pic>
        <p:nvPicPr>
          <p:cNvPr id="20" name="Рисунок 19" descr="https://docs.ensi.tech/assets/images/activity14-a76d9bbc1db0185f7cfd2cb7fde0ee65.pn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52600" y="4267200"/>
            <a:ext cx="6096000" cy="183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Пример построения диаграммы деятельности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строение диаграммы выполнения </a:t>
            </a:r>
            <a:r>
              <a:rPr lang="ru-RU" sz="2000" dirty="0" err="1" smtClean="0"/>
              <a:t>фитнес-упражнений</a:t>
            </a:r>
            <a:r>
              <a:rPr lang="ru-RU" sz="2000" dirty="0" smtClean="0"/>
              <a:t> в течение дня. Основные шаги построения диаграммы деятельности:</a:t>
            </a:r>
            <a:br>
              <a:rPr lang="ru-RU" sz="2000" dirty="0" smtClean="0"/>
            </a:br>
            <a:endParaRPr lang="ru-RU" sz="2000" dirty="0" smtClean="0"/>
          </a:p>
          <a:p>
            <a:pPr lvl="0"/>
            <a:r>
              <a:rPr lang="ru-RU" sz="2000" dirty="0" smtClean="0"/>
              <a:t>Добавление основных элементов</a:t>
            </a:r>
          </a:p>
          <a:p>
            <a:pPr lvl="0"/>
            <a:r>
              <a:rPr lang="ru-RU" sz="2000" dirty="0" smtClean="0"/>
              <a:t>Работа с операциями</a:t>
            </a:r>
          </a:p>
          <a:p>
            <a:endParaRPr lang="ru-RU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Добавление основных элементов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1"/>
            <a:ext cx="4267200" cy="4525963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1.</a:t>
            </a:r>
            <a:r>
              <a:rPr lang="ru-RU" sz="2000" dirty="0" smtClean="0"/>
              <a:t> Добавляем дорожки</a:t>
            </a:r>
          </a:p>
          <a:p>
            <a:endParaRPr lang="ru-RU" sz="2000" dirty="0" smtClean="0"/>
          </a:p>
          <a:p>
            <a:r>
              <a:rPr lang="ru-RU" sz="2000" dirty="0" smtClean="0"/>
              <a:t>Дорожка (англ. </a:t>
            </a:r>
            <a:r>
              <a:rPr lang="ru-RU" sz="2000" dirty="0" err="1" smtClean="0"/>
              <a:t>swimlane</a:t>
            </a:r>
            <a:r>
              <a:rPr lang="ru-RU" sz="2000" dirty="0" smtClean="0"/>
              <a:t>) — часть области диаграммы деятельности для отображения деятельностей, за которые отвечает конкретный объект (например, пользователь или организационное подразделение). Диаграмма-пример содержит две дорожки: «Система» и «Клиент»</a:t>
            </a:r>
            <a:endParaRPr lang="ru-RU" sz="2000" dirty="0"/>
          </a:p>
        </p:txBody>
      </p:sp>
      <p:pic>
        <p:nvPicPr>
          <p:cNvPr id="4" name="Рисунок 3" descr="https://static.tildacdn.com/tild6639-6239-4037-a466-363837613932/WSR_91600_01_28_06St.png"/>
          <p:cNvPicPr/>
          <p:nvPr/>
        </p:nvPicPr>
        <p:blipFill>
          <a:blip r:embed="rId2" cstate="print"/>
          <a:srcRect l="31837" t="20331" r="11218" b="15864"/>
          <a:stretch>
            <a:fillRect/>
          </a:stretch>
        </p:blipFill>
        <p:spPr bwMode="auto">
          <a:xfrm>
            <a:off x="4133850" y="1850367"/>
            <a:ext cx="5010150" cy="3157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https://static.tildacdn.com/tild6234-6638-4235-a161-333736326663/WSR_91600_02_15_02St.png"/>
          <p:cNvPicPr/>
          <p:nvPr/>
        </p:nvPicPr>
        <p:blipFill>
          <a:blip r:embed="rId2" cstate="print"/>
          <a:srcRect l="31837" t="20095" r="25395" b="41654"/>
          <a:stretch>
            <a:fillRect/>
          </a:stretch>
        </p:blipFill>
        <p:spPr bwMode="auto">
          <a:xfrm>
            <a:off x="4300254" y="1828800"/>
            <a:ext cx="484374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Добавление основных элементов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1"/>
            <a:ext cx="4953000" cy="4525963"/>
          </a:xfrm>
        </p:spPr>
        <p:txBody>
          <a:bodyPr>
            <a:noAutofit/>
          </a:bodyPr>
          <a:lstStyle/>
          <a:p>
            <a:r>
              <a:rPr lang="ru-RU" sz="2000" b="1" dirty="0" smtClean="0"/>
              <a:t>2.</a:t>
            </a:r>
            <a:r>
              <a:rPr lang="ru-RU" sz="2000" dirty="0" smtClean="0"/>
              <a:t> Добавляем узлы и операции</a:t>
            </a:r>
          </a:p>
          <a:p>
            <a:pPr fontAlgn="t"/>
            <a:endParaRPr lang="ru-RU" sz="2000" b="1" dirty="0" smtClean="0"/>
          </a:p>
          <a:p>
            <a:pPr fontAlgn="t"/>
            <a:r>
              <a:rPr lang="ru-RU" sz="2000" dirty="0" smtClean="0"/>
              <a:t>Диаграмма деятельности должна начинаться с </a:t>
            </a:r>
            <a:r>
              <a:rPr lang="ru-RU" sz="2000" b="1" dirty="0" smtClean="0"/>
              <a:t>начального</a:t>
            </a:r>
            <a:r>
              <a:rPr lang="ru-RU" sz="2000" dirty="0" smtClean="0"/>
              <a:t> узла (англ. </a:t>
            </a:r>
            <a:r>
              <a:rPr lang="ru-RU" sz="2000" dirty="0" err="1" smtClean="0"/>
              <a:t>activity</a:t>
            </a:r>
            <a:r>
              <a:rPr lang="ru-RU" sz="2000" dirty="0" smtClean="0"/>
              <a:t> </a:t>
            </a:r>
            <a:r>
              <a:rPr lang="ru-RU" sz="2000" dirty="0" err="1" smtClean="0"/>
              <a:t>initial</a:t>
            </a:r>
            <a:r>
              <a:rPr lang="ru-RU" sz="2000" dirty="0" smtClean="0"/>
              <a:t> </a:t>
            </a:r>
            <a:r>
              <a:rPr lang="ru-RU" sz="2000" dirty="0" err="1" smtClean="0"/>
              <a:t>node</a:t>
            </a:r>
            <a:r>
              <a:rPr lang="ru-RU" sz="2000" dirty="0" smtClean="0"/>
              <a:t>), в котором начинаются поток или потоки при вызове деятельности извне, и завершаться </a:t>
            </a:r>
            <a:r>
              <a:rPr lang="ru-RU" sz="2000" b="1" dirty="0" smtClean="0"/>
              <a:t>конечным</a:t>
            </a:r>
            <a:r>
              <a:rPr lang="ru-RU" sz="2000" dirty="0" smtClean="0"/>
              <a:t> узлом (англ. </a:t>
            </a:r>
            <a:r>
              <a:rPr lang="ru-RU" sz="2000" dirty="0" err="1" smtClean="0"/>
              <a:t>activity</a:t>
            </a:r>
            <a:r>
              <a:rPr lang="ru-RU" sz="2000" dirty="0" smtClean="0"/>
              <a:t> </a:t>
            </a:r>
            <a:r>
              <a:rPr lang="ru-RU" sz="2000" dirty="0" err="1" smtClean="0"/>
              <a:t>final</a:t>
            </a:r>
            <a:r>
              <a:rPr lang="ru-RU" sz="2000" dirty="0" smtClean="0"/>
              <a:t> </a:t>
            </a:r>
            <a:r>
              <a:rPr lang="ru-RU" sz="2000" dirty="0" err="1" smtClean="0"/>
              <a:t>node</a:t>
            </a:r>
            <a:r>
              <a:rPr lang="ru-RU" sz="2000" dirty="0" smtClean="0"/>
              <a:t>), который останавливает все потоки данной деятельности. В примере начальный узел изображается </a:t>
            </a:r>
            <a:r>
              <a:rPr lang="ru-RU" sz="2000" dirty="0" err="1" smtClean="0"/>
              <a:t>голубым</a:t>
            </a:r>
            <a:r>
              <a:rPr lang="ru-RU" sz="2000" dirty="0" smtClean="0"/>
              <a:t> кругом, а конечный узел — серым. Операции (англ. </a:t>
            </a:r>
            <a:r>
              <a:rPr lang="ru-RU" sz="2000" dirty="0" err="1" smtClean="0"/>
              <a:t>operations</a:t>
            </a:r>
            <a:r>
              <a:rPr lang="ru-RU" sz="2000" dirty="0" smtClean="0"/>
              <a:t>) являются ключевыми элементами диаграммы деятельности и отображаются зелеными овалами</a:t>
            </a:r>
          </a:p>
          <a:p>
            <a:endParaRPr lang="ru-RU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Работа с операциями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1"/>
            <a:ext cx="4267200" cy="4525963"/>
          </a:xfrm>
        </p:spPr>
        <p:txBody>
          <a:bodyPr>
            <a:noAutofit/>
          </a:bodyPr>
          <a:lstStyle/>
          <a:p>
            <a:r>
              <a:rPr lang="ru-RU" sz="2000" b="1" dirty="0" smtClean="0"/>
              <a:t>1.</a:t>
            </a:r>
            <a:r>
              <a:rPr lang="ru-RU" sz="2000" dirty="0" smtClean="0"/>
              <a:t> Отображаем условное поведение типа решение</a:t>
            </a:r>
          </a:p>
          <a:p>
            <a:pPr fontAlgn="t"/>
            <a:endParaRPr lang="ru-RU" sz="2000" b="1" dirty="0" smtClean="0"/>
          </a:p>
          <a:p>
            <a:pPr fontAlgn="t"/>
            <a:r>
              <a:rPr lang="ru-RU" sz="2000" dirty="0" smtClean="0"/>
              <a:t>Решение (англ. </a:t>
            </a:r>
            <a:r>
              <a:rPr lang="ru-RU" sz="2000" dirty="0" err="1" smtClean="0"/>
              <a:t>decision</a:t>
            </a:r>
            <a:r>
              <a:rPr lang="ru-RU" sz="2000" dirty="0" smtClean="0"/>
              <a:t>) имеет один входящий и несколько защищенных выходящих потоков. Защитой является условное выражение, помещенное в скобки. Так как при достижении решения выбирается только один из выходных потоков, защиты должны быть взаимоисключающими. Пример защиты — «[Есть упражнения для выполнения]»</a:t>
            </a:r>
          </a:p>
          <a:p>
            <a:endParaRPr lang="ru-RU" sz="2000" dirty="0"/>
          </a:p>
        </p:txBody>
      </p:sp>
      <p:pic>
        <p:nvPicPr>
          <p:cNvPr id="4" name="Рисунок 3" descr="https://static.tildacdn.com/tild3434-6234-4337-a362-643962353639/WSR_91600_02_55_16St.png"/>
          <p:cNvPicPr/>
          <p:nvPr/>
        </p:nvPicPr>
        <p:blipFill>
          <a:blip r:embed="rId2" cstate="print"/>
          <a:srcRect l="31903" t="15248" r="11124" b="17202"/>
          <a:stretch>
            <a:fillRect/>
          </a:stretch>
        </p:blipFill>
        <p:spPr bwMode="auto">
          <a:xfrm>
            <a:off x="4133850" y="1759535"/>
            <a:ext cx="5010150" cy="3338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Работа с операциями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1"/>
            <a:ext cx="4038600" cy="4525963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2.</a:t>
            </a:r>
            <a:r>
              <a:rPr lang="ru-RU" sz="2000" dirty="0" smtClean="0"/>
              <a:t> Отображаем условное поведение типа слияние</a:t>
            </a:r>
          </a:p>
          <a:p>
            <a:pPr fontAlgn="t"/>
            <a:endParaRPr lang="ru-RU" sz="2000" b="1" dirty="0" smtClean="0"/>
          </a:p>
          <a:p>
            <a:pPr fontAlgn="t"/>
            <a:r>
              <a:rPr lang="ru-RU" sz="2000" dirty="0" smtClean="0"/>
              <a:t>Слияние (англ. </a:t>
            </a:r>
            <a:r>
              <a:rPr lang="ru-RU" sz="2000" dirty="0" err="1" smtClean="0"/>
              <a:t>merge</a:t>
            </a:r>
            <a:r>
              <a:rPr lang="ru-RU" sz="2000" dirty="0" smtClean="0"/>
              <a:t>) означает завершение условного поведения, которое было начато решением</a:t>
            </a:r>
          </a:p>
          <a:p>
            <a:endParaRPr lang="ru-RU" sz="2000" dirty="0"/>
          </a:p>
        </p:txBody>
      </p:sp>
      <p:pic>
        <p:nvPicPr>
          <p:cNvPr id="4" name="Рисунок 3" descr="https://static.tildacdn.com/tild3239-6332-4730-a135-633663613365/WSR_91600_03_30_07St.png"/>
          <p:cNvPicPr/>
          <p:nvPr/>
        </p:nvPicPr>
        <p:blipFill>
          <a:blip r:embed="rId2" cstate="print"/>
          <a:srcRect l="31704" t="15496" r="10694" b="20911"/>
          <a:stretch>
            <a:fillRect/>
          </a:stretch>
        </p:blipFill>
        <p:spPr bwMode="auto">
          <a:xfrm>
            <a:off x="4070054" y="1295400"/>
            <a:ext cx="5073946" cy="314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Работа с операциями</a:t>
            </a:r>
            <a:endParaRPr lang="ru-RU" sz="4000" dirty="0"/>
          </a:p>
        </p:txBody>
      </p:sp>
      <p:pic>
        <p:nvPicPr>
          <p:cNvPr id="4" name="Рисунок 3" descr="https://static.tildacdn.com/tild3230-3565-4162-b431-333537666637/WSR_91600_04_22_15St.png"/>
          <p:cNvPicPr/>
          <p:nvPr/>
        </p:nvPicPr>
        <p:blipFill>
          <a:blip r:embed="rId2" cstate="print"/>
          <a:srcRect l="55741" t="15848" r="5764" b="9152"/>
          <a:stretch>
            <a:fillRect/>
          </a:stretch>
        </p:blipFill>
        <p:spPr bwMode="auto">
          <a:xfrm>
            <a:off x="4240176" y="1494589"/>
            <a:ext cx="4903824" cy="536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1"/>
            <a:ext cx="4572000" cy="4525963"/>
          </a:xfrm>
        </p:spPr>
        <p:txBody>
          <a:bodyPr>
            <a:noAutofit/>
          </a:bodyPr>
          <a:lstStyle/>
          <a:p>
            <a:r>
              <a:rPr lang="ru-RU" sz="2000" b="1" dirty="0" smtClean="0"/>
              <a:t>3.</a:t>
            </a:r>
            <a:r>
              <a:rPr lang="ru-RU" sz="2000" dirty="0" smtClean="0"/>
              <a:t> Реализуем параллельные потоки</a:t>
            </a:r>
          </a:p>
          <a:p>
            <a:pPr fontAlgn="t"/>
            <a:endParaRPr lang="ru-RU" sz="2000" b="1" dirty="0" smtClean="0"/>
          </a:p>
          <a:p>
            <a:pPr fontAlgn="t"/>
            <a:r>
              <a:rPr lang="ru-RU" sz="2000" dirty="0" smtClean="0"/>
              <a:t>Для реализации параллельных потоков используются точки разделения и точки слияния. Из точки разделения (англ. </a:t>
            </a:r>
            <a:r>
              <a:rPr lang="ru-RU" sz="2000" dirty="0" err="1" smtClean="0"/>
              <a:t>fork</a:t>
            </a:r>
            <a:r>
              <a:rPr lang="ru-RU" sz="2000" dirty="0" smtClean="0"/>
              <a:t> </a:t>
            </a:r>
            <a:r>
              <a:rPr lang="ru-RU" sz="2000" dirty="0" err="1" smtClean="0"/>
              <a:t>node</a:t>
            </a:r>
            <a:r>
              <a:rPr lang="ru-RU" sz="2000" dirty="0" smtClean="0"/>
              <a:t>) выходят два и более потока, выполняющихся </a:t>
            </a:r>
            <a:r>
              <a:rPr lang="ru-RU" sz="2000" dirty="0" err="1" smtClean="0"/>
              <a:t>паралелльно</a:t>
            </a:r>
            <a:r>
              <a:rPr lang="ru-RU" sz="2000" dirty="0" smtClean="0"/>
              <a:t>. Точка слияния (англ. </a:t>
            </a:r>
            <a:r>
              <a:rPr lang="ru-RU" sz="2000" dirty="0" err="1" smtClean="0"/>
              <a:t>join</a:t>
            </a:r>
            <a:r>
              <a:rPr lang="ru-RU" sz="2000" dirty="0" smtClean="0"/>
              <a:t> </a:t>
            </a:r>
            <a:r>
              <a:rPr lang="ru-RU" sz="2000" dirty="0" err="1" smtClean="0"/>
              <a:t>node</a:t>
            </a:r>
            <a:r>
              <a:rPr lang="ru-RU" sz="2000" dirty="0" smtClean="0"/>
              <a:t>) синхронизирует потоки, т. к. каждый из них ждет достижения этой точки остальными потоками, после чего продолжается последовательное исполнение</a:t>
            </a:r>
          </a:p>
          <a:p>
            <a:endParaRPr lang="ru-RU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Как нарисовать диаграмму деятельности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Схемы деятельности могут быть использованы для моделирования </a:t>
            </a:r>
            <a:r>
              <a:rPr lang="ru-RU" sz="2000" dirty="0" err="1" smtClean="0"/>
              <a:t>бизнес-требований</a:t>
            </a:r>
            <a:r>
              <a:rPr lang="ru-RU" sz="2000" dirty="0" smtClean="0"/>
              <a:t>, создания высокоуровневого представления о функциональных возможностях системы, анализа сценариев использования и для различных других целей. </a:t>
            </a:r>
          </a:p>
          <a:p>
            <a:r>
              <a:rPr lang="ru-RU" sz="2000" b="1" dirty="0" smtClean="0"/>
              <a:t>Шаг 1: Определите шаги действия по сценарию использования</a:t>
            </a:r>
            <a:endParaRPr lang="ru-RU" sz="2000" dirty="0" smtClean="0"/>
          </a:p>
          <a:p>
            <a:r>
              <a:rPr lang="ru-RU" sz="2000" dirty="0" smtClean="0"/>
              <a:t>Здесь вам необходимо определить различные виды деятельности и действия, из которых состоит ваш бизнес-процесс или система.</a:t>
            </a:r>
          </a:p>
          <a:p>
            <a:r>
              <a:rPr lang="ru-RU" sz="2000" b="1" dirty="0" smtClean="0"/>
              <a:t>Шаг 2: Определите участвующих субъектов</a:t>
            </a:r>
            <a:endParaRPr lang="ru-RU" sz="2000" dirty="0" smtClean="0"/>
          </a:p>
          <a:p>
            <a:r>
              <a:rPr lang="ru-RU" sz="2000" dirty="0" smtClean="0"/>
              <a:t>Если вы уже выяснили, кто эти актеры, то легче разобраться в каждом действии, за которое они отвечают.</a:t>
            </a:r>
          </a:p>
          <a:p>
            <a:endParaRPr lang="ru-RU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Как нарисовать диаграмму деятельности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 smtClean="0"/>
              <a:t>Шаг 3: Найти поток среди мероприятий</a:t>
            </a:r>
            <a:endParaRPr lang="ru-RU" dirty="0" smtClean="0"/>
          </a:p>
          <a:p>
            <a:r>
              <a:rPr lang="ru-RU" dirty="0" smtClean="0"/>
              <a:t>Выяснить, в каком порядке обрабатываются действия. Отметьте условия, которые должны быть выполнены для выполнения определенных процессов, какие действия происходят одновременно, и нужно ли добавлять какие-то ветки на диаграмме. И вы должны завершить некоторые действия, прежде чем вы можете перейти к другим?</a:t>
            </a:r>
          </a:p>
          <a:p>
            <a:r>
              <a:rPr lang="ru-RU" b="1" dirty="0" smtClean="0"/>
              <a:t>Шаг 4: Добавить разделы</a:t>
            </a:r>
            <a:endParaRPr lang="ru-RU" dirty="0" smtClean="0"/>
          </a:p>
          <a:p>
            <a:r>
              <a:rPr lang="ru-RU" dirty="0" smtClean="0"/>
              <a:t>В Диаграммы деятельности </a:t>
            </a:r>
            <a:r>
              <a:rPr lang="ru-RU" u="sng" dirty="0" err="1" smtClean="0">
                <a:hlinkClick r:id="rId2"/>
              </a:rPr>
              <a:t>Swimlanes</a:t>
            </a:r>
            <a:r>
              <a:rPr lang="ru-RU" dirty="0" smtClean="0"/>
              <a:t> – также известные как разделы – используются для представления или группирования действий, выполняемых различными действующими лицами в одном потоке. Вот несколько советов, вы можете следовать при использовании </a:t>
            </a:r>
            <a:r>
              <a:rPr lang="ru-RU" dirty="0" err="1" smtClean="0"/>
              <a:t>Swimlanes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Добавить </a:t>
            </a:r>
            <a:r>
              <a:rPr lang="ru-RU" dirty="0" err="1" smtClean="0"/>
              <a:t>Swimlanes</a:t>
            </a:r>
            <a:r>
              <a:rPr lang="ru-RU" dirty="0" smtClean="0"/>
              <a:t> линейных процессов. Это позволяет легко читать.</a:t>
            </a:r>
          </a:p>
          <a:p>
            <a:pPr lvl="0"/>
            <a:r>
              <a:rPr lang="ru-RU" dirty="0" smtClean="0"/>
              <a:t>Не добавляйте более 5 </a:t>
            </a:r>
            <a:r>
              <a:rPr lang="ru-RU" dirty="0" err="1" smtClean="0"/>
              <a:t>Swimlanes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Расположить </a:t>
            </a:r>
            <a:r>
              <a:rPr lang="ru-RU" dirty="0" err="1" smtClean="0"/>
              <a:t>Swimlanes</a:t>
            </a:r>
            <a:r>
              <a:rPr lang="ru-RU" dirty="0" smtClean="0"/>
              <a:t> в логическом порядке.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449</Words>
  <Application>Microsoft Office PowerPoint</Application>
  <PresentationFormat>Экран (4:3)</PresentationFormat>
  <Paragraphs>64</Paragraphs>
  <Slides>14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Диаграмма деятельности / активности UML</vt:lpstr>
      <vt:lpstr>Диаграмма активности UML</vt:lpstr>
      <vt:lpstr>Пример построения  диаграммы активностей</vt:lpstr>
      <vt:lpstr>Основные элементы</vt:lpstr>
      <vt:lpstr>Основные элементы</vt:lpstr>
      <vt:lpstr>Основные элементы</vt:lpstr>
      <vt:lpstr>Пример построения диаграммы деятельности</vt:lpstr>
      <vt:lpstr>Добавление основных элементов</vt:lpstr>
      <vt:lpstr>Добавление основных элементов</vt:lpstr>
      <vt:lpstr>Работа с операциями</vt:lpstr>
      <vt:lpstr>Работа с операциями</vt:lpstr>
      <vt:lpstr>Работа с операциями</vt:lpstr>
      <vt:lpstr>Как нарисовать диаграмму деятельности</vt:lpstr>
      <vt:lpstr>Как нарисовать диаграмму деятельности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Диаграмма состояний UML</dc:title>
  <dc:creator>Olga Mitsura</dc:creator>
  <cp:lastModifiedBy>Olga Mitsura</cp:lastModifiedBy>
  <cp:revision>17</cp:revision>
  <dcterms:created xsi:type="dcterms:W3CDTF">2024-09-30T08:16:39Z</dcterms:created>
  <dcterms:modified xsi:type="dcterms:W3CDTF">2024-10-01T08:07:05Z</dcterms:modified>
</cp:coreProperties>
</file>