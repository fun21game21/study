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0" r:id="rId4"/>
    <p:sldId id="271" r:id="rId5"/>
    <p:sldId id="272" r:id="rId6"/>
    <p:sldId id="273" r:id="rId7"/>
    <p:sldId id="277" r:id="rId8"/>
    <p:sldId id="274" r:id="rId9"/>
    <p:sldId id="275" r:id="rId10"/>
    <p:sldId id="278" r:id="rId11"/>
    <p:sldId id="279" r:id="rId12"/>
    <p:sldId id="276" r:id="rId13"/>
    <p:sldId id="280" r:id="rId14"/>
    <p:sldId id="281" r:id="rId15"/>
    <p:sldId id="282" r:id="rId16"/>
    <p:sldId id="283" r:id="rId17"/>
    <p:sldId id="284" r:id="rId18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68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E8A80F-5665-4EF9-B335-6544CB48057C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E835CF-F6AE-4783-A492-73B22A96EC9C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835CF-F6AE-4783-A492-73B22A96EC9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70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latinLnBrk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latinLnBrk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latinLnBrk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latinLnBrk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latinLnBrk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latinLnBrk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Диаграмма компонентов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dirty="0"/>
              <a:t>Component </a:t>
            </a:r>
            <a:r>
              <a:rPr lang="ru-RU" dirty="0" err="1" smtClean="0"/>
              <a:t>diagram</a:t>
            </a:r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smtClean="0"/>
              <a:t>Диаграмма компонентов</a:t>
            </a:r>
            <a:r>
              <a:rPr lang="ru-RU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4000" b="1" dirty="0" smtClean="0"/>
              <a:t>UML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Диаграмма компонентов отвечает на вопрос: "Из каких независимых, заменяемых частей состоит наша система и как они общаются друг с другом?" Это ключевой инструмент для архитектуры ПО и командной разработки</a:t>
            </a:r>
            <a:r>
              <a:rPr lang="ru-RU" sz="2000" dirty="0" smtClean="0"/>
              <a:t>».</a:t>
            </a:r>
          </a:p>
          <a:p>
            <a:r>
              <a:rPr lang="ru-RU" sz="2000" dirty="0"/>
              <a:t>Структурная диаграмма UML, отображающая организацию и взаимосвязи физических (или логических) компонентов системы. Описывает систему на логическом или физическом уровне, фокусируясь на том, как модули, библиотеки, </a:t>
            </a:r>
            <a:r>
              <a:rPr lang="ru-RU" sz="2000" dirty="0" err="1"/>
              <a:t>микросервисы</a:t>
            </a:r>
            <a:r>
              <a:rPr lang="ru-RU" sz="2000" dirty="0"/>
              <a:t> или подсистемы взаимодействуют друг с другом через чётко определённые интерфейсы.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800600"/>
            <a:ext cx="4591691" cy="19433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Основные элементы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000" dirty="0"/>
              <a:t>Компонент — это модульная, заменяемая и автономная часть системы, которая инкапсулирует свою внутреннюю реализацию и предоставляет набор интерфейсов для взаимодействия с внешним миром.</a:t>
            </a:r>
          </a:p>
          <a:p>
            <a:r>
              <a:rPr lang="ru-RU" sz="2000" dirty="0"/>
              <a:t>- Обозначение: Прямоугольник со стереотипом `&lt;&lt;</a:t>
            </a:r>
            <a:r>
              <a:rPr lang="ru-RU" sz="2000" dirty="0" err="1"/>
              <a:t>component</a:t>
            </a:r>
            <a:r>
              <a:rPr lang="ru-RU" sz="2000" dirty="0"/>
              <a:t>&gt;&gt;` в верхнем левом углу. Также допустимо использование специального значка компонента (прямоугольник с двумя меньшими прямоугольниками, выступающими слева) в правом верхнем углу.</a:t>
            </a:r>
          </a:p>
          <a:p>
            <a:r>
              <a:rPr lang="ru-RU" sz="2000" dirty="0"/>
              <a:t>- Вложенность: Компоненты могут содержать другие компоненты (субкомпоненты), что показывает иерархическую декомпозицию системы.</a:t>
            </a:r>
          </a:p>
          <a:p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189847"/>
            <a:ext cx="1800476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261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Основные элементы 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000" dirty="0"/>
              <a:t>Интерфейс определяет контракт (набор операций и сигналов), который компонент предоставляет или требует:</a:t>
            </a:r>
          </a:p>
          <a:p>
            <a:r>
              <a:rPr lang="ru-RU" sz="2000" dirty="0"/>
              <a:t>- Предоставляемый интерфейс (</a:t>
            </a:r>
            <a:r>
              <a:rPr lang="ru-RU" sz="2000" dirty="0" err="1"/>
              <a:t>Provided</a:t>
            </a:r>
            <a:r>
              <a:rPr lang="ru-RU" sz="2000" dirty="0"/>
              <a:t>): «Леденец» (</a:t>
            </a:r>
            <a:r>
              <a:rPr lang="ru-RU" sz="2000" dirty="0" err="1"/>
              <a:t>lollipop</a:t>
            </a:r>
            <a:r>
              <a:rPr lang="ru-RU" sz="2000" dirty="0"/>
              <a:t>) — Интерфейс, который компонент реализует и «предлагает» другим компонентам. Обозначается нотацией «леденец» (</a:t>
            </a:r>
            <a:r>
              <a:rPr lang="ru-RU" sz="2000" dirty="0" err="1"/>
              <a:t>lollipop</a:t>
            </a:r>
            <a:r>
              <a:rPr lang="ru-RU" sz="2000" dirty="0"/>
              <a:t>) — кружок на конце сплошной линии, исходящей из компонента или </a:t>
            </a:r>
            <a:r>
              <a:rPr lang="ru-RU" sz="2000" dirty="0" smtClean="0"/>
              <a:t>порта</a:t>
            </a:r>
            <a:endParaRPr lang="en-US" sz="2000" dirty="0" smtClean="0"/>
          </a:p>
          <a:p>
            <a:endParaRPr lang="en-US" sz="2000" dirty="0" smtClean="0"/>
          </a:p>
          <a:p>
            <a:pPr marL="0" indent="0">
              <a:buNone/>
            </a:pPr>
            <a:endParaRPr lang="ru-RU" sz="2000" dirty="0"/>
          </a:p>
          <a:p>
            <a:r>
              <a:rPr lang="ru-RU" sz="2000" dirty="0"/>
              <a:t>- Требуемый интерфейс (</a:t>
            </a:r>
            <a:r>
              <a:rPr lang="ru-RU" sz="2000" dirty="0" err="1"/>
              <a:t>Required</a:t>
            </a:r>
            <a:r>
              <a:rPr lang="ru-RU" sz="2000" dirty="0"/>
              <a:t>): «Чашечка» или «розетка» (</a:t>
            </a:r>
            <a:r>
              <a:rPr lang="ru-RU" sz="2000" dirty="0" err="1"/>
              <a:t>socket</a:t>
            </a:r>
            <a:r>
              <a:rPr lang="ru-RU" sz="2000" dirty="0"/>
              <a:t>) — Интерфейс, который необходим компоненту для корректной работы, но который он сам не реализует. Обозначается нотацией «гнездо» или «чашка» (</a:t>
            </a:r>
            <a:r>
              <a:rPr lang="ru-RU" sz="2000" dirty="0" err="1"/>
              <a:t>socket</a:t>
            </a:r>
            <a:r>
              <a:rPr lang="ru-RU" sz="2000" dirty="0"/>
              <a:t>) — полукруг, «обнимающий» конец линии.</a:t>
            </a:r>
          </a:p>
          <a:p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505200"/>
            <a:ext cx="809738" cy="52394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5934147"/>
            <a:ext cx="371527" cy="30484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3505200"/>
            <a:ext cx="981212" cy="52394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0338" y="5930130"/>
            <a:ext cx="952633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526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Предоставляемые и требуемые интерфейсы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- Предоставляемый интерфейс (</a:t>
            </a:r>
            <a:r>
              <a:rPr lang="ru-RU" sz="2000" dirty="0" err="1"/>
              <a:t>Provided</a:t>
            </a:r>
            <a:r>
              <a:rPr lang="ru-RU" sz="2000" dirty="0"/>
              <a:t> </a:t>
            </a:r>
            <a:r>
              <a:rPr lang="ru-RU" sz="2000" dirty="0" err="1"/>
              <a:t>Interface</a:t>
            </a:r>
            <a:r>
              <a:rPr lang="ru-RU" sz="2000" dirty="0"/>
              <a:t>): Контракт, который компонент обязуется выполнять. Реализует определённые операции. Обозначается «леденцом».</a:t>
            </a:r>
          </a:p>
          <a:p>
            <a:pPr marL="0" indent="0">
              <a:buNone/>
            </a:pPr>
            <a:r>
              <a:rPr lang="ru-RU" sz="2000" dirty="0"/>
              <a:t>- Требуемый интерфейс (</a:t>
            </a:r>
            <a:r>
              <a:rPr lang="ru-RU" sz="2000" dirty="0" err="1"/>
              <a:t>Required</a:t>
            </a:r>
            <a:r>
              <a:rPr lang="ru-RU" sz="2000" dirty="0"/>
              <a:t> </a:t>
            </a:r>
            <a:r>
              <a:rPr lang="ru-RU" sz="2000" dirty="0" err="1"/>
              <a:t>Interface</a:t>
            </a:r>
            <a:r>
              <a:rPr lang="ru-RU" sz="2000" dirty="0"/>
              <a:t>): Контракт, который компонент ожидает от внешней среды для своей работы. Обозначается «розеткой».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Визуальный пример:</a:t>
            </a:r>
          </a:p>
          <a:p>
            <a:pPr marL="0" indent="0">
              <a:buNone/>
            </a:pPr>
            <a:r>
              <a:rPr lang="ru-RU" sz="2000" dirty="0"/>
              <a:t>- Компонент `</a:t>
            </a:r>
            <a:r>
              <a:rPr lang="ru-RU" sz="2000" dirty="0" err="1"/>
              <a:t>МодульОплаты</a:t>
            </a:r>
            <a:r>
              <a:rPr lang="ru-RU" sz="2000" dirty="0"/>
              <a:t>` имеет предоставляемый интерфейс `</a:t>
            </a:r>
            <a:r>
              <a:rPr lang="ru-RU" sz="2000" dirty="0" err="1"/>
              <a:t>IPayment</a:t>
            </a:r>
            <a:r>
              <a:rPr lang="ru-RU" sz="2000" dirty="0"/>
              <a:t>` (метод `</a:t>
            </a:r>
            <a:r>
              <a:rPr lang="ru-RU" sz="2000" dirty="0" err="1"/>
              <a:t>pay</a:t>
            </a:r>
            <a:r>
              <a:rPr lang="ru-RU" sz="2000" dirty="0"/>
              <a:t>()`).</a:t>
            </a:r>
          </a:p>
          <a:p>
            <a:pPr marL="0" indent="0">
              <a:buNone/>
            </a:pPr>
            <a:r>
              <a:rPr lang="ru-RU" sz="2000" dirty="0"/>
              <a:t>- Тот же `</a:t>
            </a:r>
            <a:r>
              <a:rPr lang="ru-RU" sz="2000" dirty="0" err="1"/>
              <a:t>МодульОплаты</a:t>
            </a:r>
            <a:r>
              <a:rPr lang="ru-RU" sz="2000" dirty="0"/>
              <a:t>` имеет требуемый интерфейс `</a:t>
            </a:r>
            <a:r>
              <a:rPr lang="ru-RU" sz="2000" dirty="0" err="1"/>
              <a:t>ILogger</a:t>
            </a:r>
            <a:r>
              <a:rPr lang="ru-RU" sz="2000" dirty="0"/>
              <a:t>` (метод `</a:t>
            </a:r>
            <a:r>
              <a:rPr lang="ru-RU" sz="2000" dirty="0" err="1"/>
              <a:t>log</a:t>
            </a:r>
            <a:r>
              <a:rPr lang="ru-RU" sz="2000" dirty="0"/>
              <a:t>()`), который он ожидает от системы </a:t>
            </a:r>
            <a:r>
              <a:rPr lang="ru-RU" sz="2000" dirty="0" err="1"/>
              <a:t>логирования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4800" y="5867400"/>
            <a:ext cx="8413088" cy="88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546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Основные элементы 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000" dirty="0"/>
              <a:t>Порт — это точка взаимодействия на границе компонента (или другого инкапсулированного элемента), через которую проходят все входящие и исходящие </a:t>
            </a:r>
            <a:r>
              <a:rPr lang="ru-RU" sz="2000" dirty="0" smtClean="0"/>
              <a:t>сообщения. </a:t>
            </a:r>
            <a:endParaRPr lang="ru-RU" sz="2000" dirty="0"/>
          </a:p>
          <a:p>
            <a:r>
              <a:rPr lang="ru-RU" sz="2000" dirty="0"/>
              <a:t>- Обозначение: Небольшой закрашенный или пустой квадрат, расположенный непосредственно на границе прямоугольника компонента.</a:t>
            </a:r>
          </a:p>
          <a:p>
            <a:r>
              <a:rPr lang="ru-RU" sz="2000" dirty="0"/>
              <a:t>- Назначение: Порты позволяют скрыть внутреннюю структуру компонента. Внешние компоненты подключаются не к внутренним частям, а к портам, что обеспечивает слабую связность и возможность замены внутренней реализации без изменения внешних связей.</a:t>
            </a:r>
          </a:p>
          <a:p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876800"/>
            <a:ext cx="1076475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44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Порты (</a:t>
            </a:r>
            <a:r>
              <a:rPr lang="ru-RU" sz="4000" b="1" dirty="0" err="1"/>
              <a:t>Ports</a:t>
            </a:r>
            <a:r>
              <a:rPr lang="ru-RU" sz="4000" b="1" dirty="0"/>
              <a:t>)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 smtClean="0"/>
              <a:t>Специфицированная </a:t>
            </a:r>
            <a:r>
              <a:rPr lang="ru-RU" sz="2000" dirty="0"/>
              <a:t>точка взаимодействия между компонентом и его окружением.</a:t>
            </a:r>
          </a:p>
          <a:p>
            <a:pPr marL="0" indent="0">
              <a:buNone/>
            </a:pPr>
            <a:r>
              <a:rPr lang="ru-RU" sz="2000" dirty="0"/>
              <a:t>- Зачем нужны: Позволяют разграничить разные каналы связи одного компонента (например, «публичный доступ» и «административный доступ»).</a:t>
            </a:r>
          </a:p>
          <a:p>
            <a:pPr marL="0" indent="0">
              <a:buNone/>
            </a:pPr>
            <a:r>
              <a:rPr lang="ru-RU" sz="2000" dirty="0"/>
              <a:t>- Нотация: Небольшой квадрат на границе прямоугольника компонента, к которому крепятся интерфейсы.</a:t>
            </a:r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4900094" y="3362325"/>
            <a:ext cx="4238625" cy="349567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3429000"/>
            <a:ext cx="5334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- Назначение: Порты позволяют скрыть внутреннюю структуру компонента. Внешние компоненты подключаются не к внутренним частям, а к портам, что обеспечивает слабую связность и возможность замены внутренней реализации без изменения внешних связей.</a:t>
            </a:r>
          </a:p>
          <a:p>
            <a:r>
              <a:rPr lang="ru-RU" sz="2000" dirty="0"/>
              <a:t> </a:t>
            </a:r>
          </a:p>
          <a:p>
            <a:r>
              <a:rPr lang="ru-RU" sz="2000" dirty="0"/>
              <a:t>Визуальный пример: Компонент `</a:t>
            </a:r>
            <a:r>
              <a:rPr lang="ru-RU" sz="2000" dirty="0" err="1"/>
              <a:t>БазаДанных</a:t>
            </a:r>
            <a:r>
              <a:rPr lang="ru-RU" sz="2000" dirty="0"/>
              <a:t>`. Порт 1 (публичный): требует интерфейс `</a:t>
            </a:r>
            <a:r>
              <a:rPr lang="ru-RU" sz="2000" dirty="0" err="1"/>
              <a:t>IQuery</a:t>
            </a:r>
            <a:r>
              <a:rPr lang="ru-RU" sz="2000" dirty="0"/>
              <a:t>`. Порт 2 (</a:t>
            </a:r>
            <a:r>
              <a:rPr lang="ru-RU" sz="2000" dirty="0" err="1"/>
              <a:t>админский</a:t>
            </a:r>
            <a:r>
              <a:rPr lang="ru-RU" sz="2000" dirty="0"/>
              <a:t>): предоставляет интерфейс `</a:t>
            </a:r>
            <a:r>
              <a:rPr lang="ru-RU" sz="2000" dirty="0" err="1"/>
              <a:t>IAdminBackup</a:t>
            </a:r>
            <a:r>
              <a:rPr lang="ru-RU" sz="2000" dirty="0"/>
              <a:t>`.</a:t>
            </a:r>
          </a:p>
        </p:txBody>
      </p:sp>
    </p:spTree>
    <p:extLst>
      <p:ext uri="{BB962C8B-B14F-4D97-AF65-F5344CB8AC3E}">
        <p14:creationId xmlns:p14="http://schemas.microsoft.com/office/powerpoint/2010/main" val="1930634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Основные элементы 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Артефакт представляет собой физический фрагмент информации, используемый или создаваемый в процессе разработки ПО (например, исполняемый файл `.</a:t>
            </a:r>
            <a:r>
              <a:rPr lang="ru-RU" sz="2000" dirty="0" err="1"/>
              <a:t>exe</a:t>
            </a:r>
            <a:r>
              <a:rPr lang="ru-RU" sz="2000" dirty="0"/>
              <a:t>`, библиотека `.</a:t>
            </a:r>
            <a:r>
              <a:rPr lang="ru-RU" sz="2000" dirty="0" err="1"/>
              <a:t>dll</a:t>
            </a:r>
            <a:r>
              <a:rPr lang="ru-RU" sz="2000" dirty="0"/>
              <a:t>`, скрипт, документация (`.</a:t>
            </a:r>
            <a:r>
              <a:rPr lang="ru-RU" sz="2000" dirty="0" err="1"/>
              <a:t>exe</a:t>
            </a:r>
            <a:r>
              <a:rPr lang="ru-RU" sz="2000" dirty="0"/>
              <a:t>`, `.</a:t>
            </a:r>
            <a:r>
              <a:rPr lang="ru-RU" sz="2000" dirty="0" err="1"/>
              <a:t>dll</a:t>
            </a:r>
            <a:r>
              <a:rPr lang="ru-RU" sz="2000" dirty="0"/>
              <a:t>`, `.</a:t>
            </a:r>
            <a:r>
              <a:rPr lang="ru-RU" sz="2000" dirty="0" err="1"/>
              <a:t>jar</a:t>
            </a:r>
            <a:r>
              <a:rPr lang="ru-RU" sz="2000" dirty="0"/>
              <a:t>`, скрипт, документация). Хотя артефакты чаще изображаются на диаграммах развёртывания, на диаграмме компонентов они показывают, какой физический файл реализует данный логический компонент.</a:t>
            </a:r>
          </a:p>
          <a:p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73744"/>
            <a:ext cx="2562583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356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smtClean="0"/>
              <a:t>Типы связей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 smtClean="0"/>
              <a:t>  </a:t>
            </a:r>
            <a:r>
              <a:rPr lang="ru-RU" sz="2000" dirty="0"/>
              <a:t>1. Зависимость (</a:t>
            </a:r>
            <a:r>
              <a:rPr lang="ru-RU" sz="2000" dirty="0" err="1"/>
              <a:t>Dependency</a:t>
            </a:r>
            <a:r>
              <a:rPr lang="ru-RU" sz="2000" dirty="0"/>
              <a:t>)</a:t>
            </a:r>
          </a:p>
          <a:p>
            <a:pPr marL="0" indent="0">
              <a:buNone/>
            </a:pPr>
            <a:r>
              <a:rPr lang="ru-RU" sz="2000" dirty="0"/>
              <a:t>- Обозначение: Пунктирная линия с открытой стрелкой (`- - -&gt;`).</a:t>
            </a:r>
          </a:p>
          <a:p>
            <a:pPr marL="0" indent="0">
              <a:buNone/>
            </a:pPr>
            <a:r>
              <a:rPr lang="ru-RU" sz="2000" dirty="0"/>
              <a:t>- Смысл: Показывает, что один компонент использует или зависит от другого компонента (например, вызывает его функции). Если изменяется поставщик зависимости, зависимый компонент может потребовать модификации.</a:t>
            </a:r>
          </a:p>
          <a:p>
            <a:pPr marL="0" indent="0">
              <a:buNone/>
            </a:pPr>
            <a:r>
              <a:rPr lang="ru-RU" sz="2000" dirty="0"/>
              <a:t> </a:t>
            </a:r>
          </a:p>
          <a:p>
            <a:pPr marL="0" indent="0">
              <a:buNone/>
            </a:pPr>
            <a:r>
              <a:rPr lang="ru-RU" sz="2000" dirty="0" smtClean="0"/>
              <a:t>2</a:t>
            </a:r>
            <a:r>
              <a:rPr lang="ru-RU" sz="2000" dirty="0"/>
              <a:t>. Коннектор сборки (</a:t>
            </a:r>
            <a:r>
              <a:rPr lang="en-US" sz="2000" dirty="0"/>
              <a:t>Assembly Connector</a:t>
            </a:r>
            <a:r>
              <a:rPr lang="ru-RU" sz="2000" dirty="0"/>
              <a:t>)</a:t>
            </a:r>
          </a:p>
          <a:p>
            <a:pPr marL="0" indent="0">
              <a:buNone/>
            </a:pPr>
            <a:r>
              <a:rPr lang="ru-RU" sz="2000" dirty="0"/>
              <a:t>- Обозначение: Сплошная линия, соединяющая предоставляемый интерфейс (леденец) одного компонента с требуемым интерфейсом (гнездо) другого.</a:t>
            </a:r>
          </a:p>
          <a:p>
            <a:pPr marL="0" indent="0">
              <a:buNone/>
            </a:pPr>
            <a:r>
              <a:rPr lang="ru-RU" sz="2000" dirty="0"/>
              <a:t>- Смысл: Демонстрирует, как два компонента соединяются вместе: один предоставляет сервис, а другой его использует. Это основной способ показа «сборки» системы из частей</a:t>
            </a:r>
            <a:r>
              <a:rPr lang="ru-RU" sz="2000" dirty="0" smtClean="0"/>
              <a:t>.</a:t>
            </a: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276600"/>
            <a:ext cx="2505425" cy="68589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576" y="6271331"/>
            <a:ext cx="1781424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644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smtClean="0"/>
              <a:t>Типы связей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 smtClean="0"/>
              <a:t>3</a:t>
            </a:r>
            <a:r>
              <a:rPr lang="ru-RU" sz="2000" dirty="0"/>
              <a:t>. Коннектор делегирования (</a:t>
            </a:r>
            <a:r>
              <a:rPr lang="en-US" sz="2000" dirty="0"/>
              <a:t>Delegation Connector</a:t>
            </a:r>
            <a:r>
              <a:rPr lang="ru-RU" sz="2000" dirty="0"/>
              <a:t>)</a:t>
            </a:r>
          </a:p>
          <a:p>
            <a:pPr marL="0" indent="0">
              <a:buNone/>
            </a:pPr>
            <a:r>
              <a:rPr lang="ru-RU" sz="2000" dirty="0"/>
              <a:t>- Обозначение: Сплошная линия со стрелкой, часто со стереотипом `&lt;&lt;</a:t>
            </a:r>
            <a:r>
              <a:rPr lang="ru-RU" sz="2000" dirty="0" err="1"/>
              <a:t>delegate</a:t>
            </a:r>
            <a:r>
              <a:rPr lang="ru-RU" sz="2000" dirty="0"/>
              <a:t>&gt;&gt;`.</a:t>
            </a:r>
          </a:p>
          <a:p>
            <a:pPr marL="0" indent="0">
              <a:buNone/>
            </a:pPr>
            <a:r>
              <a:rPr lang="ru-RU" sz="2000" dirty="0"/>
              <a:t>- Смысл: Связывает порт компонента с его внутренней частью (субкомпонентом или внутренним интерфейсом), которая фактически выполняет работу. Показывает, как запрос, пришедший извне на порт, перенаправляется (делегируется) внутрь компонента для обработки.</a:t>
            </a:r>
          </a:p>
          <a:p>
            <a:pPr marL="0" indent="0">
              <a:buNone/>
            </a:pPr>
            <a:r>
              <a:rPr lang="ru-RU" sz="2000" dirty="0"/>
              <a:t> </a:t>
            </a:r>
          </a:p>
          <a:p>
            <a:pPr marL="0" indent="0">
              <a:buNone/>
            </a:pPr>
            <a:r>
              <a:rPr lang="ru-RU" sz="2000" dirty="0" smtClean="0"/>
              <a:t>4</a:t>
            </a:r>
            <a:r>
              <a:rPr lang="ru-RU" sz="2000" dirty="0"/>
              <a:t>. Реализация компонента (</a:t>
            </a:r>
            <a:r>
              <a:rPr lang="ru-RU" sz="2000" dirty="0" err="1"/>
              <a:t>Component</a:t>
            </a:r>
            <a:r>
              <a:rPr lang="ru-RU" sz="2000" dirty="0"/>
              <a:t> </a:t>
            </a:r>
            <a:r>
              <a:rPr lang="ru-RU" sz="2000" dirty="0" err="1"/>
              <a:t>Realization</a:t>
            </a:r>
            <a:r>
              <a:rPr lang="ru-RU" sz="2000" dirty="0"/>
              <a:t>)</a:t>
            </a:r>
          </a:p>
          <a:p>
            <a:pPr marL="0" indent="0">
              <a:buNone/>
            </a:pPr>
            <a:r>
              <a:rPr lang="ru-RU" sz="2000" dirty="0"/>
              <a:t>- Обозначение: Пунктирная линия с пустым треугольником на конце (`- - -&gt;|`).</a:t>
            </a:r>
          </a:p>
          <a:p>
            <a:pPr marL="0" indent="0">
              <a:buNone/>
            </a:pPr>
            <a:r>
              <a:rPr lang="ru-RU" sz="2000" dirty="0"/>
              <a:t>- Смысл: Показывает, что конкретный класс, набор классов или артефакт реализует поведение, заданное компонентом или его интерфейсом. Это мост между логическим проектированием (классы) и физической архитектурой (компоненты</a:t>
            </a:r>
            <a:r>
              <a:rPr lang="ru-RU" sz="2000" dirty="0" smtClean="0"/>
              <a:t>).</a:t>
            </a: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886200"/>
            <a:ext cx="1676400" cy="53532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6284583"/>
            <a:ext cx="2353003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062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smtClean="0"/>
              <a:t>Типы связей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 smtClean="0"/>
              <a:t>5</a:t>
            </a:r>
            <a:r>
              <a:rPr lang="ru-RU" sz="2000" dirty="0"/>
              <a:t>. Вложенность / Контейнеризация (</a:t>
            </a:r>
            <a:r>
              <a:rPr lang="ru-RU" sz="2000" dirty="0" err="1"/>
              <a:t>Containment</a:t>
            </a:r>
            <a:r>
              <a:rPr lang="ru-RU" sz="2000" dirty="0"/>
              <a:t>)</a:t>
            </a:r>
          </a:p>
          <a:p>
            <a:pPr marL="0" indent="0">
              <a:buNone/>
            </a:pPr>
            <a:r>
              <a:rPr lang="ru-RU" sz="2000" dirty="0"/>
              <a:t>- Обозначение: Графическое размещение одного компонента внутри границ другого.</a:t>
            </a:r>
          </a:p>
          <a:p>
            <a:pPr marL="0" indent="0">
              <a:buNone/>
            </a:pPr>
            <a:r>
              <a:rPr lang="ru-RU" sz="2000" dirty="0"/>
              <a:t>- Смысл: Указывает на то, что внешний компонент является составным и включает в себя внутренние подкомпоненты как свои части.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564736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пример 1 — Интернет-магазин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1"/>
            <a:ext cx="4800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Архитектура простого приложения.</a:t>
            </a:r>
          </a:p>
          <a:p>
            <a:pPr marL="0" indent="0">
              <a:buNone/>
            </a:pPr>
            <a:r>
              <a:rPr lang="ru-RU" sz="2000" dirty="0"/>
              <a:t> </a:t>
            </a:r>
          </a:p>
          <a:p>
            <a:pPr marL="0" indent="0">
              <a:buNone/>
            </a:pPr>
            <a:r>
              <a:rPr lang="ru-RU" sz="2000" dirty="0" err="1"/>
              <a:t>Визуал</a:t>
            </a:r>
            <a:r>
              <a:rPr lang="ru-RU" sz="2000" dirty="0"/>
              <a:t> (Схема):</a:t>
            </a:r>
          </a:p>
          <a:p>
            <a:pPr marL="0" indent="0">
              <a:buNone/>
            </a:pPr>
            <a:r>
              <a:rPr lang="ru-RU" sz="2000" dirty="0"/>
              <a:t>1. `Веб-</a:t>
            </a:r>
            <a:r>
              <a:rPr lang="ru-RU" sz="2000" dirty="0" err="1"/>
              <a:t>Фронтенд</a:t>
            </a:r>
            <a:r>
              <a:rPr lang="ru-RU" sz="2000" dirty="0"/>
              <a:t>` (требуется `</a:t>
            </a:r>
            <a:r>
              <a:rPr lang="ru-RU" sz="2000" dirty="0" err="1"/>
              <a:t>IOrderService</a:t>
            </a:r>
            <a:r>
              <a:rPr lang="ru-RU" sz="2000" dirty="0"/>
              <a:t>`) --&gt; зависит от --&gt; `</a:t>
            </a:r>
            <a:r>
              <a:rPr lang="ru-RU" sz="2000" dirty="0" err="1"/>
              <a:t>СервисЗаказов</a:t>
            </a:r>
            <a:r>
              <a:rPr lang="ru-RU" sz="2000" dirty="0"/>
              <a:t>`.</a:t>
            </a:r>
          </a:p>
          <a:p>
            <a:pPr marL="0" indent="0">
              <a:buNone/>
            </a:pPr>
            <a:r>
              <a:rPr lang="ru-RU" sz="2000" dirty="0"/>
              <a:t>2. `</a:t>
            </a:r>
            <a:r>
              <a:rPr lang="ru-RU" sz="2000" dirty="0" err="1"/>
              <a:t>СервисЗаказов</a:t>
            </a:r>
            <a:r>
              <a:rPr lang="ru-RU" sz="2000" dirty="0"/>
              <a:t>` (предоставляет `</a:t>
            </a:r>
            <a:r>
              <a:rPr lang="ru-RU" sz="2000" dirty="0" err="1"/>
              <a:t>IOrderService</a:t>
            </a:r>
            <a:r>
              <a:rPr lang="ru-RU" sz="2000" dirty="0"/>
              <a:t>`, требуется `</a:t>
            </a:r>
            <a:r>
              <a:rPr lang="ru-RU" sz="2000" dirty="0" err="1"/>
              <a:t>IPayment</a:t>
            </a:r>
            <a:r>
              <a:rPr lang="ru-RU" sz="2000" dirty="0"/>
              <a:t>` и `</a:t>
            </a:r>
            <a:r>
              <a:rPr lang="ru-RU" sz="2000" dirty="0" err="1"/>
              <a:t>IInventory</a:t>
            </a:r>
            <a:r>
              <a:rPr lang="ru-RU" sz="2000" dirty="0"/>
              <a:t>`) --&gt; зависит от --&gt; `</a:t>
            </a:r>
            <a:r>
              <a:rPr lang="ru-RU" sz="2000" dirty="0" err="1"/>
              <a:t>ПлатежныйШлюз</a:t>
            </a:r>
            <a:r>
              <a:rPr lang="ru-RU" sz="2000" dirty="0"/>
              <a:t>` и `</a:t>
            </a:r>
            <a:r>
              <a:rPr lang="ru-RU" sz="2000" dirty="0" err="1"/>
              <a:t>СкладскойМодуль</a:t>
            </a:r>
            <a:r>
              <a:rPr lang="ru-RU" sz="2000" dirty="0"/>
              <a:t>`.</a:t>
            </a:r>
          </a:p>
          <a:p>
            <a:pPr marL="0" indent="0">
              <a:buNone/>
            </a:pPr>
            <a:r>
              <a:rPr lang="ru-RU" sz="2000" dirty="0"/>
              <a:t>3. `</a:t>
            </a:r>
            <a:r>
              <a:rPr lang="ru-RU" sz="2000" dirty="0" err="1"/>
              <a:t>СкладскойМодуль</a:t>
            </a:r>
            <a:r>
              <a:rPr lang="ru-RU" sz="2000" dirty="0"/>
              <a:t>` (предоставляет `</a:t>
            </a:r>
            <a:r>
              <a:rPr lang="ru-RU" sz="2000" dirty="0" err="1"/>
              <a:t>IInventory</a:t>
            </a:r>
            <a:r>
              <a:rPr lang="ru-RU" sz="2000" dirty="0"/>
              <a:t>`, требуется `</a:t>
            </a:r>
            <a:r>
              <a:rPr lang="ru-RU" sz="2000" dirty="0" err="1"/>
              <a:t>IDatabase</a:t>
            </a:r>
            <a:r>
              <a:rPr lang="ru-RU" sz="2000" dirty="0"/>
              <a:t>`).</a:t>
            </a:r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4864729" y="1084460"/>
            <a:ext cx="4267200" cy="577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364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пример 2 — Университетская информационная система 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48000" y="1596429"/>
            <a:ext cx="5940425" cy="5194935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514600"/>
            <a:ext cx="441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 err="1"/>
              <a:t>Визуал</a:t>
            </a:r>
            <a:r>
              <a:rPr lang="ru-RU" sz="2000" dirty="0"/>
              <a:t> (Схема):</a:t>
            </a:r>
          </a:p>
          <a:p>
            <a:pPr marL="0" indent="0">
              <a:buNone/>
            </a:pPr>
            <a:r>
              <a:rPr lang="ru-RU" sz="2000" dirty="0"/>
              <a:t>1. `</a:t>
            </a:r>
            <a:r>
              <a:rPr lang="ru-RU" sz="2000" dirty="0" err="1"/>
              <a:t>ЛичныйКабинетСтудента</a:t>
            </a:r>
            <a:r>
              <a:rPr lang="ru-RU" sz="2000" dirty="0"/>
              <a:t>` (требуется `</a:t>
            </a:r>
            <a:r>
              <a:rPr lang="ru-RU" sz="2000" dirty="0" err="1"/>
              <a:t>IGradeView</a:t>
            </a:r>
            <a:r>
              <a:rPr lang="ru-RU" sz="2000" dirty="0"/>
              <a:t>`) --&gt; `</a:t>
            </a:r>
            <a:r>
              <a:rPr lang="ru-RU" sz="2000" dirty="0" err="1"/>
              <a:t>МодульУспеваемости</a:t>
            </a:r>
            <a:r>
              <a:rPr lang="ru-RU" sz="2000" dirty="0"/>
              <a:t>`.</a:t>
            </a:r>
          </a:p>
          <a:p>
            <a:pPr marL="0" indent="0">
              <a:buNone/>
            </a:pPr>
            <a:r>
              <a:rPr lang="ru-RU" sz="2000" dirty="0"/>
              <a:t>2. `</a:t>
            </a:r>
            <a:r>
              <a:rPr lang="ru-RU" sz="2000" dirty="0" err="1"/>
              <a:t>МодульУспеваемости</a:t>
            </a:r>
            <a:r>
              <a:rPr lang="ru-RU" sz="2000" dirty="0"/>
              <a:t>` (предоставляет `</a:t>
            </a:r>
            <a:r>
              <a:rPr lang="ru-RU" sz="2000" dirty="0" err="1"/>
              <a:t>IGradeView</a:t>
            </a:r>
            <a:r>
              <a:rPr lang="ru-RU" sz="2000" dirty="0"/>
              <a:t>`, требуется `</a:t>
            </a:r>
            <a:r>
              <a:rPr lang="ru-RU" sz="2000" dirty="0" err="1"/>
              <a:t>INotification</a:t>
            </a:r>
            <a:r>
              <a:rPr lang="ru-RU" sz="2000" dirty="0"/>
              <a:t>`) --&gt; `</a:t>
            </a:r>
            <a:r>
              <a:rPr lang="ru-RU" sz="2000" dirty="0" err="1"/>
              <a:t>СервисУведомлений</a:t>
            </a:r>
            <a:r>
              <a:rPr lang="ru-RU" sz="2000" dirty="0"/>
              <a:t>`.</a:t>
            </a:r>
          </a:p>
          <a:p>
            <a:pPr marL="0" indent="0">
              <a:buNone/>
            </a:pPr>
            <a:r>
              <a:rPr lang="ru-RU" sz="2000" dirty="0"/>
              <a:t>3. `</a:t>
            </a:r>
            <a:r>
              <a:rPr lang="ru-RU" sz="2000" dirty="0" err="1"/>
              <a:t>СервисУведомлений</a:t>
            </a:r>
            <a:r>
              <a:rPr lang="ru-RU" sz="2000" dirty="0"/>
              <a:t>` (предоставляет `</a:t>
            </a:r>
            <a:r>
              <a:rPr lang="ru-RU" sz="2000" dirty="0" err="1"/>
              <a:t>INotification</a:t>
            </a:r>
            <a:r>
              <a:rPr lang="ru-RU" sz="2000" dirty="0"/>
              <a:t>`, требуется `</a:t>
            </a:r>
            <a:r>
              <a:rPr lang="ru-RU" sz="2000" dirty="0" err="1"/>
              <a:t>ISmsGateway</a:t>
            </a:r>
            <a:r>
              <a:rPr lang="ru-RU" sz="2000" dirty="0"/>
              <a:t>`) --&gt; `</a:t>
            </a:r>
            <a:r>
              <a:rPr lang="ru-RU" sz="2000" dirty="0" err="1"/>
              <a:t>ВнешнийСМС</a:t>
            </a:r>
            <a:r>
              <a:rPr lang="ru-RU" sz="2000" dirty="0"/>
              <a:t>-Провайдер`.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724466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Диаграмма компонентов </a:t>
            </a:r>
            <a:r>
              <a:rPr lang="ru-RU" b="1" dirty="0" err="1"/>
              <a:t>vs</a:t>
            </a:r>
            <a:r>
              <a:rPr lang="ru-RU" b="1" dirty="0"/>
              <a:t> Другие диаграммы UML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400290"/>
              </p:ext>
            </p:extLst>
          </p:nvPr>
        </p:nvGraphicFramePr>
        <p:xfrm>
          <a:off x="381000" y="1417639"/>
          <a:ext cx="5943600" cy="53949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385212682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4263570296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33707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Диаграмма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Что показывает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Уровень абстракции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509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Классов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Логическую структуру (классы, атрибуты, методы)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Низкий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653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Компонентов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Физическую или крупномасштабную модульную структуру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Средний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332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Развёртывания (</a:t>
                      </a:r>
                      <a:r>
                        <a:rPr lang="ru-RU" sz="1800" dirty="0" err="1" smtClean="0"/>
                        <a:t>Deployment</a:t>
                      </a:r>
                      <a:r>
                        <a:rPr lang="ru-RU" sz="1800" dirty="0" smtClean="0"/>
                        <a:t>)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Аппаратное обеспечение (серверы, устройства) и артефакты на них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Высокий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980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Пакетов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Логическую группировку элементов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Средний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123183"/>
                  </a:ext>
                </a:extLst>
              </a:tr>
            </a:tbl>
          </a:graphicData>
        </a:graphic>
      </p:graphicFrame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6048375" y="1417639"/>
            <a:ext cx="3095625" cy="556323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848600" y="5943600"/>
            <a:ext cx="1219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smtClean="0">
                <a:latin typeface="Times New Roman" panose="02020603050405020304" pitchFamily="18" charset="0"/>
                <a:ea typeface="Calibri" panose="020F0502020204030204" pitchFamily="34" charset="0"/>
              </a:rPr>
              <a:t>Что внутри модуля</a:t>
            </a:r>
            <a:endParaRPr lang="ru-RU" sz="16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001001" y="3737591"/>
            <a:ext cx="1143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Из каких частей состоит система</a:t>
            </a:r>
            <a:endParaRPr lang="ru-RU" sz="16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848600" y="2423319"/>
            <a:ext cx="14086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Где физически это работает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246594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Типичные ошибки при </a:t>
            </a:r>
            <a:r>
              <a:rPr lang="ru-RU" b="1" dirty="0" smtClean="0"/>
              <a:t>проектировании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1. Превращение в диаграмму классов: Не нужно указывать внутренние классы компонента, если это не диаграмма состава компонента.</a:t>
            </a:r>
          </a:p>
          <a:p>
            <a:pPr marL="0" indent="0">
              <a:buNone/>
            </a:pPr>
            <a:r>
              <a:rPr lang="ru-RU" sz="2000" dirty="0"/>
              <a:t>2. Отсутствие направленности интерфейсов: Непонятно, кто предоставляет, а кто требует услугу.</a:t>
            </a:r>
          </a:p>
          <a:p>
            <a:pPr marL="0" indent="0">
              <a:buNone/>
            </a:pPr>
            <a:r>
              <a:rPr lang="ru-RU" sz="2000" dirty="0"/>
              <a:t>3. Циклические зависимости: Компонент А зависит от Б, а Б зависит от А (признак плохой архитектуры).</a:t>
            </a:r>
          </a:p>
          <a:p>
            <a:pPr marL="0" indent="0">
              <a:buNone/>
            </a:pPr>
            <a:r>
              <a:rPr lang="ru-RU" sz="2000" dirty="0"/>
              <a:t>4. Слишком низкий уровень детализации: Изображение каждого мелкого модуля вместо укрупнённых подсистем.</a:t>
            </a:r>
          </a:p>
          <a:p>
            <a:pPr marL="0" indent="0">
              <a:buNone/>
            </a:pPr>
            <a:r>
              <a:rPr lang="ru-RU" sz="2000" dirty="0"/>
              <a:t>5. Игнорирование портов: Прямое соединение интерфейсов с внутренними частями компонента без использования портов нарушает инкапсуляцию.</a:t>
            </a:r>
          </a:p>
          <a:p>
            <a:pPr marL="0" indent="0">
              <a:buNone/>
            </a:pPr>
            <a:r>
              <a:rPr lang="ru-RU" sz="2000" dirty="0"/>
              <a:t>6. Перегруженность: Если компонентов слишком много, диаграмму нужно разбить на несколько.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926202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Когда и зачем применять диаграмму </a:t>
            </a:r>
            <a:r>
              <a:rPr lang="ru-RU" dirty="0" smtClean="0"/>
              <a:t>компонентов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1. Архитектурное проектирование: Для визуализации высокоуровневой структуры системы перед началом детального проектирования классов.</a:t>
            </a:r>
          </a:p>
          <a:p>
            <a:pPr marL="0" indent="0">
              <a:buNone/>
            </a:pPr>
            <a:r>
              <a:rPr lang="ru-RU" dirty="0"/>
              <a:t>2. </a:t>
            </a:r>
            <a:r>
              <a:rPr lang="ru-RU" dirty="0" err="1"/>
              <a:t>Микросервисная</a:t>
            </a:r>
            <a:r>
              <a:rPr lang="ru-RU" dirty="0"/>
              <a:t> архитектура: Идеально подходит для отображения границ </a:t>
            </a:r>
            <a:r>
              <a:rPr lang="ru-RU" dirty="0" err="1"/>
              <a:t>микросервисов</a:t>
            </a:r>
            <a:r>
              <a:rPr lang="ru-RU" dirty="0"/>
              <a:t>, их API (предоставляемые интерфейсы) и внешних зависимостей (требуемые интерфейсы).</a:t>
            </a:r>
          </a:p>
          <a:p>
            <a:pPr marL="0" indent="0">
              <a:buNone/>
            </a:pPr>
            <a:r>
              <a:rPr lang="ru-RU" dirty="0"/>
              <a:t>3. Управление зависимостями: Помогает выявить циклические зависимости или чрезмерную связность между модулями.</a:t>
            </a:r>
          </a:p>
          <a:p>
            <a:pPr marL="0" indent="0">
              <a:buNone/>
            </a:pPr>
            <a:r>
              <a:rPr lang="ru-RU" dirty="0"/>
              <a:t>4. Планирование сборок и развёртывания: Показывает, какие артефакты (библиотеки, исполняемые файлы) должны быть собраны вместе и как они соотносятся с логическими компонентами.</a:t>
            </a:r>
          </a:p>
          <a:p>
            <a:pPr marL="0" indent="0">
              <a:buNone/>
            </a:pPr>
            <a:r>
              <a:rPr lang="ru-RU" dirty="0"/>
              <a:t>5. Коммуникация в команде: Даёт чёткое представление о том, «из каких кубиков» состоит система и как эти кубики стыкуются друг с другом. Это мощный инструмент для общения между архитекторами, разработчиками и </a:t>
            </a:r>
            <a:r>
              <a:rPr lang="ru-RU" dirty="0" err="1"/>
              <a:t>DevOps</a:t>
            </a:r>
            <a:r>
              <a:rPr lang="ru-RU" dirty="0"/>
              <a:t>-инженерами.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8369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Резюме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- Компонент = независимая, заменяемая часть системы.</a:t>
            </a:r>
          </a:p>
          <a:p>
            <a:pPr marL="0" indent="0">
              <a:buNone/>
            </a:pPr>
            <a:r>
              <a:rPr lang="ru-RU" sz="2000" dirty="0"/>
              <a:t>- Интерфейсы («леденец» и «розетка») определяют контракты взаимодействия.</a:t>
            </a:r>
          </a:p>
          <a:p>
            <a:pPr marL="0" indent="0">
              <a:buNone/>
            </a:pPr>
            <a:r>
              <a:rPr lang="ru-RU" sz="2000" dirty="0"/>
              <a:t>- Порты уточняют точки доступа и обеспечивают инкапсуляцию.</a:t>
            </a:r>
          </a:p>
          <a:p>
            <a:pPr marL="0" indent="0">
              <a:buNone/>
            </a:pPr>
            <a:r>
              <a:rPr lang="ru-RU" sz="2000" dirty="0"/>
              <a:t>- Связи (зависимость, коннектор сборки, делегирования, реализация) показывают, как компоненты общаются.</a:t>
            </a:r>
          </a:p>
          <a:p>
            <a:pPr marL="0" indent="0">
              <a:buNone/>
            </a:pPr>
            <a:r>
              <a:rPr lang="ru-RU" sz="2000" dirty="0"/>
              <a:t>- Цель: достижимость модульности, тестируемости и </a:t>
            </a:r>
            <a:r>
              <a:rPr lang="ru-RU" sz="2000" dirty="0" err="1"/>
              <a:t>переиспользования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07116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1195</Words>
  <Application>Microsoft Office PowerPoint</Application>
  <PresentationFormat>Экран (4:3)</PresentationFormat>
  <Paragraphs>106</Paragraphs>
  <Slides>17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Диаграмма компонентов</vt:lpstr>
      <vt:lpstr>Диаграмма компонентов UML</vt:lpstr>
      <vt:lpstr>Основные элементы </vt:lpstr>
      <vt:lpstr>Основные элементы </vt:lpstr>
      <vt:lpstr>Предоставляемые и требуемые интерфейсы </vt:lpstr>
      <vt:lpstr>Основные элементы </vt:lpstr>
      <vt:lpstr>Порты (Ports) </vt:lpstr>
      <vt:lpstr>Основные элементы </vt:lpstr>
      <vt:lpstr>Типы связей</vt:lpstr>
      <vt:lpstr>Типы связей</vt:lpstr>
      <vt:lpstr>Типы связей</vt:lpstr>
      <vt:lpstr>пример 1 — Интернет-магазин</vt:lpstr>
      <vt:lpstr>пример 2 — Университетская информационная система </vt:lpstr>
      <vt:lpstr>Диаграмма компонентов vs Другие диаграммы UML</vt:lpstr>
      <vt:lpstr>Типичные ошибки при проектировании</vt:lpstr>
      <vt:lpstr>Когда и зачем применять диаграмму компонентов</vt:lpstr>
      <vt:lpstr>Резюме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Диаграмма состояний UML</dc:title>
  <dc:creator>Olga Mitsura</dc:creator>
  <cp:lastModifiedBy>4940</cp:lastModifiedBy>
  <cp:revision>24</cp:revision>
  <dcterms:created xsi:type="dcterms:W3CDTF">2024-09-30T08:16:39Z</dcterms:created>
  <dcterms:modified xsi:type="dcterms:W3CDTF">2026-10-21T14:28:57Z</dcterms:modified>
</cp:coreProperties>
</file>